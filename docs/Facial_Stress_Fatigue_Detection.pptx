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Sorts Mill Goudy" charset="-122" pitchFamily="34"/>
      <p:regular r:id="rId19"/>
    </p:embeddedFont>
    <p:embeddedFont>
      <p:font typeface="Mi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mdpi.com/05b1c5b891cc44b904bd092480987b46c5088bfe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203" b="120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97933" y="1619250"/>
            <a:ext cx="4284133" cy="381000"/>
          </a:xfrm>
          <a:prstGeom prst="roundRect">
            <a:avLst>
              <a:gd name="adj" fmla="val 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97933" y="1619250"/>
            <a:ext cx="33867" cy="3810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Text 3"/>
          <p:cNvSpPr/>
          <p:nvPr/>
        </p:nvSpPr>
        <p:spPr>
          <a:xfrm>
            <a:off x="567267" y="1695450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CMPE 258 — Deep Learning · SJSU · Spring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2288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Facial Stress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Fatigue Detection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09575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Multi-Task DINOv2 + LLM Wellness Layer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5528" y="47910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71513" y="4743450"/>
            <a:ext cx="2609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Nikita Memane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·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00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Sankalp Wahane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90525" y="6286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7700" y="624840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691084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1938734" y="6248400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685653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1762" y="118289"/>
                </a:moveTo>
                <a:cubicBezTo>
                  <a:pt x="51762" y="118884"/>
                  <a:pt x="51078" y="119360"/>
                  <a:pt x="50215" y="119360"/>
                </a:cubicBezTo>
                <a:cubicBezTo>
                  <a:pt x="49232" y="119449"/>
                  <a:pt x="48548" y="118973"/>
                  <a:pt x="48548" y="118289"/>
                </a:cubicBezTo>
                <a:cubicBezTo>
                  <a:pt x="48548" y="117693"/>
                  <a:pt x="49232" y="117217"/>
                  <a:pt x="50096" y="117217"/>
                </a:cubicBezTo>
                <a:cubicBezTo>
                  <a:pt x="50989" y="117128"/>
                  <a:pt x="51762" y="117604"/>
                  <a:pt x="51762" y="118289"/>
                </a:cubicBezTo>
                <a:close/>
                <a:moveTo>
                  <a:pt x="42505" y="116949"/>
                </a:moveTo>
                <a:cubicBezTo>
                  <a:pt x="42297" y="117544"/>
                  <a:pt x="42892" y="118229"/>
                  <a:pt x="43785" y="118408"/>
                </a:cubicBezTo>
                <a:cubicBezTo>
                  <a:pt x="44559" y="118705"/>
                  <a:pt x="45452" y="118408"/>
                  <a:pt x="45631" y="117812"/>
                </a:cubicBezTo>
                <a:cubicBezTo>
                  <a:pt x="45809" y="117217"/>
                  <a:pt x="45244" y="116532"/>
                  <a:pt x="44351" y="116265"/>
                </a:cubicBezTo>
                <a:cubicBezTo>
                  <a:pt x="43577" y="116056"/>
                  <a:pt x="42714" y="116354"/>
                  <a:pt x="42505" y="116949"/>
                </a:cubicBezTo>
                <a:close/>
                <a:moveTo>
                  <a:pt x="55662" y="116443"/>
                </a:moveTo>
                <a:cubicBezTo>
                  <a:pt x="54799" y="116651"/>
                  <a:pt x="54203" y="117217"/>
                  <a:pt x="54293" y="117902"/>
                </a:cubicBezTo>
                <a:cubicBezTo>
                  <a:pt x="54382" y="118497"/>
                  <a:pt x="55156" y="118884"/>
                  <a:pt x="56049" y="118676"/>
                </a:cubicBezTo>
                <a:cubicBezTo>
                  <a:pt x="56912" y="118467"/>
                  <a:pt x="57507" y="117902"/>
                  <a:pt x="57418" y="117306"/>
                </a:cubicBezTo>
                <a:cubicBezTo>
                  <a:pt x="57329" y="116741"/>
                  <a:pt x="56525" y="116354"/>
                  <a:pt x="55662" y="116443"/>
                </a:cubicBezTo>
                <a:close/>
                <a:moveTo>
                  <a:pt x="75248" y="2381"/>
                </a:moveTo>
                <a:cubicBezTo>
                  <a:pt x="33963" y="2381"/>
                  <a:pt x="2381" y="33724"/>
                  <a:pt x="2381" y="75009"/>
                </a:cubicBezTo>
                <a:cubicBezTo>
                  <a:pt x="2381" y="108019"/>
                  <a:pt x="23158" y="136267"/>
                  <a:pt x="52834" y="146209"/>
                </a:cubicBezTo>
                <a:cubicBezTo>
                  <a:pt x="56644" y="146893"/>
                  <a:pt x="57983" y="144542"/>
                  <a:pt x="57983" y="142607"/>
                </a:cubicBezTo>
                <a:cubicBezTo>
                  <a:pt x="57983" y="140762"/>
                  <a:pt x="57894" y="130582"/>
                  <a:pt x="57894" y="124331"/>
                </a:cubicBezTo>
                <a:cubicBezTo>
                  <a:pt x="57894" y="124331"/>
                  <a:pt x="37058" y="128796"/>
                  <a:pt x="32683" y="115461"/>
                </a:cubicBezTo>
                <a:cubicBezTo>
                  <a:pt x="32683" y="115461"/>
                  <a:pt x="29289" y="106799"/>
                  <a:pt x="24408" y="104567"/>
                </a:cubicBezTo>
                <a:cubicBezTo>
                  <a:pt x="24408" y="104567"/>
                  <a:pt x="17591" y="99893"/>
                  <a:pt x="24884" y="99983"/>
                </a:cubicBezTo>
                <a:cubicBezTo>
                  <a:pt x="24884" y="99983"/>
                  <a:pt x="32296" y="100578"/>
                  <a:pt x="36374" y="107662"/>
                </a:cubicBezTo>
                <a:cubicBezTo>
                  <a:pt x="42892" y="119152"/>
                  <a:pt x="53816" y="115848"/>
                  <a:pt x="58073" y="113883"/>
                </a:cubicBezTo>
                <a:cubicBezTo>
                  <a:pt x="58757" y="109121"/>
                  <a:pt x="60692" y="105817"/>
                  <a:pt x="62835" y="103852"/>
                </a:cubicBezTo>
                <a:cubicBezTo>
                  <a:pt x="46196" y="102007"/>
                  <a:pt x="29408" y="99596"/>
                  <a:pt x="29408" y="70961"/>
                </a:cubicBezTo>
                <a:cubicBezTo>
                  <a:pt x="29408" y="62776"/>
                  <a:pt x="31671" y="58668"/>
                  <a:pt x="36433" y="53429"/>
                </a:cubicBezTo>
                <a:cubicBezTo>
                  <a:pt x="35659" y="51495"/>
                  <a:pt x="33129" y="43517"/>
                  <a:pt x="37207" y="33218"/>
                </a:cubicBezTo>
                <a:cubicBezTo>
                  <a:pt x="43428" y="31284"/>
                  <a:pt x="57745" y="41255"/>
                  <a:pt x="57745" y="41255"/>
                </a:cubicBezTo>
                <a:cubicBezTo>
                  <a:pt x="63698" y="39588"/>
                  <a:pt x="70098" y="38725"/>
                  <a:pt x="76438" y="38725"/>
                </a:cubicBezTo>
                <a:cubicBezTo>
                  <a:pt x="82778" y="38725"/>
                  <a:pt x="89178" y="39588"/>
                  <a:pt x="95131" y="41255"/>
                </a:cubicBezTo>
                <a:cubicBezTo>
                  <a:pt x="95131" y="41255"/>
                  <a:pt x="109448" y="31254"/>
                  <a:pt x="115669" y="33218"/>
                </a:cubicBezTo>
                <a:cubicBezTo>
                  <a:pt x="119747" y="43547"/>
                  <a:pt x="117217" y="51495"/>
                  <a:pt x="116443" y="53429"/>
                </a:cubicBezTo>
                <a:cubicBezTo>
                  <a:pt x="121206" y="58698"/>
                  <a:pt x="124123" y="62805"/>
                  <a:pt x="124123" y="70961"/>
                </a:cubicBezTo>
                <a:cubicBezTo>
                  <a:pt x="124123" y="99685"/>
                  <a:pt x="106591" y="101977"/>
                  <a:pt x="89952" y="103852"/>
                </a:cubicBezTo>
                <a:cubicBezTo>
                  <a:pt x="92690" y="106204"/>
                  <a:pt x="95012" y="110669"/>
                  <a:pt x="95012" y="117664"/>
                </a:cubicBezTo>
                <a:cubicBezTo>
                  <a:pt x="95012" y="127695"/>
                  <a:pt x="94923" y="140107"/>
                  <a:pt x="94923" y="142548"/>
                </a:cubicBezTo>
                <a:cubicBezTo>
                  <a:pt x="94923" y="144482"/>
                  <a:pt x="96292" y="146834"/>
                  <a:pt x="100072" y="146149"/>
                </a:cubicBezTo>
                <a:cubicBezTo>
                  <a:pt x="129838" y="136267"/>
                  <a:pt x="150019" y="108019"/>
                  <a:pt x="150019" y="75009"/>
                </a:cubicBezTo>
                <a:cubicBezTo>
                  <a:pt x="150019" y="33724"/>
                  <a:pt x="116532" y="2381"/>
                  <a:pt x="75248" y="2381"/>
                </a:cubicBezTo>
                <a:close/>
                <a:moveTo>
                  <a:pt x="31313" y="105043"/>
                </a:moveTo>
                <a:cubicBezTo>
                  <a:pt x="30926" y="105341"/>
                  <a:pt x="31016" y="106025"/>
                  <a:pt x="31522" y="106591"/>
                </a:cubicBezTo>
                <a:cubicBezTo>
                  <a:pt x="31998" y="107067"/>
                  <a:pt x="32683" y="107275"/>
                  <a:pt x="33070" y="106888"/>
                </a:cubicBezTo>
                <a:cubicBezTo>
                  <a:pt x="33457" y="106591"/>
                  <a:pt x="33367" y="105906"/>
                  <a:pt x="32861" y="105341"/>
                </a:cubicBezTo>
                <a:cubicBezTo>
                  <a:pt x="32385" y="104864"/>
                  <a:pt x="31700" y="104656"/>
                  <a:pt x="31313" y="105043"/>
                </a:cubicBezTo>
                <a:close/>
                <a:moveTo>
                  <a:pt x="28099" y="102632"/>
                </a:moveTo>
                <a:cubicBezTo>
                  <a:pt x="27890" y="103019"/>
                  <a:pt x="28188" y="103495"/>
                  <a:pt x="28783" y="103793"/>
                </a:cubicBezTo>
                <a:cubicBezTo>
                  <a:pt x="29260" y="104090"/>
                  <a:pt x="29855" y="104001"/>
                  <a:pt x="30063" y="103584"/>
                </a:cubicBezTo>
                <a:cubicBezTo>
                  <a:pt x="30272" y="103197"/>
                  <a:pt x="29974" y="102721"/>
                  <a:pt x="29379" y="102424"/>
                </a:cubicBezTo>
                <a:cubicBezTo>
                  <a:pt x="28783" y="102245"/>
                  <a:pt x="28307" y="102334"/>
                  <a:pt x="28099" y="102632"/>
                </a:cubicBezTo>
                <a:close/>
                <a:moveTo>
                  <a:pt x="37743" y="113228"/>
                </a:moveTo>
                <a:cubicBezTo>
                  <a:pt x="37267" y="113615"/>
                  <a:pt x="37445" y="114508"/>
                  <a:pt x="38130" y="115074"/>
                </a:cubicBezTo>
                <a:cubicBezTo>
                  <a:pt x="38814" y="115759"/>
                  <a:pt x="39678" y="115848"/>
                  <a:pt x="40065" y="115372"/>
                </a:cubicBezTo>
                <a:cubicBezTo>
                  <a:pt x="40451" y="114985"/>
                  <a:pt x="40273" y="114092"/>
                  <a:pt x="39678" y="113526"/>
                </a:cubicBezTo>
                <a:cubicBezTo>
                  <a:pt x="39023" y="112841"/>
                  <a:pt x="38130" y="112752"/>
                  <a:pt x="37743" y="113228"/>
                </a:cubicBezTo>
                <a:close/>
                <a:moveTo>
                  <a:pt x="34350" y="108853"/>
                </a:moveTo>
                <a:cubicBezTo>
                  <a:pt x="33873" y="109151"/>
                  <a:pt x="33873" y="109924"/>
                  <a:pt x="34350" y="110609"/>
                </a:cubicBezTo>
                <a:cubicBezTo>
                  <a:pt x="34826" y="111294"/>
                  <a:pt x="35629" y="111591"/>
                  <a:pt x="36016" y="111294"/>
                </a:cubicBezTo>
                <a:cubicBezTo>
                  <a:pt x="36493" y="110907"/>
                  <a:pt x="36493" y="110133"/>
                  <a:pt x="36016" y="109448"/>
                </a:cubicBezTo>
                <a:cubicBezTo>
                  <a:pt x="35600" y="108764"/>
                  <a:pt x="34826" y="108466"/>
                  <a:pt x="34350" y="10885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2933303" y="6248400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GitHub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4714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219200" cy="381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97933" y="2275417"/>
            <a:ext cx="33867" cy="19050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33942" y="23133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891117" y="2275417"/>
            <a:ext cx="520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5367" y="2694384"/>
            <a:ext cx="54578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 and fatigue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significantly impact health, safety, and productivity across diverse domains including workplace environments, educational settings, and transportation systems.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5367" y="3739753"/>
            <a:ext cx="76200" cy="76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95867" y="3644503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Self-report instruments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(PSS, KSS) are noisy and intrusive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5367" y="4044553"/>
            <a:ext cx="76200" cy="76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867" y="3949303"/>
            <a:ext cx="4048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Wearables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work but require hardware most users won't carry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7933" y="4368403"/>
            <a:ext cx="33867" cy="97155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517" y="440637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91117" y="4368403"/>
            <a:ext cx="520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5367" y="4787371"/>
            <a:ext cx="54578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camera-based estimator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is the missing third modality: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passive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ambient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sensorless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4533" y="2110317"/>
            <a:ext cx="5590117" cy="2446867"/>
          </a:xfrm>
          <a:prstGeom prst="roundRect">
            <a:avLst>
              <a:gd name="adj" fmla="val 3114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1179" y="2381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685492" y="2343150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Target Use Cases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7367" y="2762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71192" y="2876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980767" y="276225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Study-break reminders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80767" y="2990850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Detect cognitive fatigue during long study sessions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7367" y="33337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61667" y="3448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0243" y="34945"/>
                </a:moveTo>
                <a:lnTo>
                  <a:pt x="32474" y="57150"/>
                </a:lnTo>
                <a:lnTo>
                  <a:pt x="119926" y="57150"/>
                </a:lnTo>
                <a:lnTo>
                  <a:pt x="112157" y="34945"/>
                </a:lnTo>
                <a:cubicBezTo>
                  <a:pt x="110817" y="31135"/>
                  <a:pt x="107216" y="28575"/>
                  <a:pt x="103168" y="28575"/>
                </a:cubicBezTo>
                <a:lnTo>
                  <a:pt x="49232" y="28575"/>
                </a:lnTo>
                <a:cubicBezTo>
                  <a:pt x="45184" y="28575"/>
                  <a:pt x="41583" y="31135"/>
                  <a:pt x="40243" y="34945"/>
                </a:cubicBezTo>
                <a:close/>
                <a:moveTo>
                  <a:pt x="11787" y="58579"/>
                </a:moveTo>
                <a:lnTo>
                  <a:pt x="22265" y="28664"/>
                </a:lnTo>
                <a:cubicBezTo>
                  <a:pt x="26283" y="17205"/>
                  <a:pt x="37088" y="9525"/>
                  <a:pt x="49232" y="9525"/>
                </a:cubicBezTo>
                <a:lnTo>
                  <a:pt x="103168" y="9525"/>
                </a:lnTo>
                <a:cubicBezTo>
                  <a:pt x="115312" y="9525"/>
                  <a:pt x="126117" y="17205"/>
                  <a:pt x="130135" y="28664"/>
                </a:cubicBezTo>
                <a:lnTo>
                  <a:pt x="140613" y="58579"/>
                </a:lnTo>
                <a:cubicBezTo>
                  <a:pt x="147518" y="61436"/>
                  <a:pt x="152400" y="68253"/>
                  <a:pt x="152400" y="762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33350" y="142875"/>
                </a:lnTo>
                <a:cubicBezTo>
                  <a:pt x="128081" y="142875"/>
                  <a:pt x="123825" y="138619"/>
                  <a:pt x="123825" y="133350"/>
                </a:cubicBezTo>
                <a:lnTo>
                  <a:pt x="123825" y="123825"/>
                </a:lnTo>
                <a:lnTo>
                  <a:pt x="28575" y="123825"/>
                </a:lnTo>
                <a:lnTo>
                  <a:pt x="28575" y="133350"/>
                </a:lnTo>
                <a:cubicBezTo>
                  <a:pt x="28575" y="138619"/>
                  <a:pt x="24319" y="142875"/>
                  <a:pt x="1905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76200"/>
                </a:lnTo>
                <a:cubicBezTo>
                  <a:pt x="0" y="68253"/>
                  <a:pt x="4882" y="61436"/>
                  <a:pt x="11787" y="58579"/>
                </a:cubicBezTo>
                <a:close/>
                <a:moveTo>
                  <a:pt x="38100" y="90488"/>
                </a:moveTo>
                <a:cubicBezTo>
                  <a:pt x="38100" y="85231"/>
                  <a:pt x="33832" y="80962"/>
                  <a:pt x="28575" y="80962"/>
                </a:cubicBezTo>
                <a:cubicBezTo>
                  <a:pt x="23318" y="80962"/>
                  <a:pt x="19050" y="85231"/>
                  <a:pt x="19050" y="90488"/>
                </a:cubicBezTo>
                <a:cubicBezTo>
                  <a:pt x="19050" y="95744"/>
                  <a:pt x="23318" y="100013"/>
                  <a:pt x="28575" y="100013"/>
                </a:cubicBezTo>
                <a:cubicBezTo>
                  <a:pt x="33832" y="100013"/>
                  <a:pt x="38100" y="95744"/>
                  <a:pt x="38100" y="90488"/>
                </a:cubicBezTo>
                <a:close/>
                <a:moveTo>
                  <a:pt x="123825" y="100013"/>
                </a:moveTo>
                <a:cubicBezTo>
                  <a:pt x="129082" y="100013"/>
                  <a:pt x="133350" y="95744"/>
                  <a:pt x="133350" y="90488"/>
                </a:cubicBezTo>
                <a:cubicBezTo>
                  <a:pt x="133350" y="85231"/>
                  <a:pt x="129082" y="80962"/>
                  <a:pt x="123825" y="80962"/>
                </a:cubicBezTo>
                <a:cubicBezTo>
                  <a:pt x="118568" y="80962"/>
                  <a:pt x="114300" y="85231"/>
                  <a:pt x="114300" y="90488"/>
                </a:cubicBezTo>
                <a:cubicBezTo>
                  <a:pt x="114300" y="95744"/>
                  <a:pt x="118568" y="100013"/>
                  <a:pt x="123825" y="10001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980767" y="333375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Driver-monitoring assists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80767" y="3562350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Real-time fatigue detection for road safety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7367" y="3905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80717" y="40195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980767" y="3905250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Workplace wellness dashboards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80767" y="4133850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Ambient stress monitoring in office environments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27233" y="4751917"/>
            <a:ext cx="5579533" cy="762000"/>
          </a:xfrm>
          <a:custGeom>
            <a:avLst/>
            <a:gdLst/>
            <a:ahLst/>
            <a:cxnLst/>
            <a:rect l="l" t="t" r="r" b="b"/>
            <a:pathLst>
              <a:path w="5579533" h="762000">
                <a:moveTo>
                  <a:pt x="0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685800"/>
                </a:lnTo>
                <a:cubicBezTo>
                  <a:pt x="5579491" y="727856"/>
                  <a:pt x="5545347" y="762000"/>
                  <a:pt x="5503291" y="762000"/>
                </a:cubicBez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27233" y="4751917"/>
            <a:ext cx="33867" cy="7620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6415617" y="4921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644217" y="4904317"/>
            <a:ext cx="5086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 clinical diagnosis.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 soft, ambient signal for gentle interventions without requiring users to wear or fill out anything.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3752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This Is Hard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219200" cy="381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97933" y="1143000"/>
            <a:ext cx="5598583" cy="1638300"/>
          </a:xfrm>
          <a:custGeom>
            <a:avLst/>
            <a:gdLst/>
            <a:ahLst/>
            <a:cxnLst/>
            <a:rect l="l" t="t" r="r" b="b"/>
            <a:pathLst>
              <a:path w="5598583" h="1638300">
                <a:moveTo>
                  <a:pt x="33909" y="0"/>
                </a:moveTo>
                <a:lnTo>
                  <a:pt x="5522341" y="0"/>
                </a:lnTo>
                <a:cubicBezTo>
                  <a:pt x="5564397" y="0"/>
                  <a:pt x="5598541" y="34144"/>
                  <a:pt x="5598541" y="76200"/>
                </a:cubicBezTo>
                <a:lnTo>
                  <a:pt x="5598541" y="1562100"/>
                </a:lnTo>
                <a:cubicBezTo>
                  <a:pt x="5598541" y="1604156"/>
                  <a:pt x="5564397" y="1638300"/>
                  <a:pt x="5522341" y="1638300"/>
                </a:cubicBezTo>
                <a:lnTo>
                  <a:pt x="33909" y="1638300"/>
                </a:lnTo>
                <a:cubicBezTo>
                  <a:pt x="15182" y="1638300"/>
                  <a:pt x="0" y="1623118"/>
                  <a:pt x="0" y="1604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397933" y="1143000"/>
            <a:ext cx="33867" cy="1638300"/>
          </a:xfrm>
          <a:custGeom>
            <a:avLst/>
            <a:gdLst/>
            <a:ahLst/>
            <a:cxnLst/>
            <a:rect l="l" t="t" r="r" b="b"/>
            <a:pathLst>
              <a:path w="33867" h="1638300">
                <a:moveTo>
                  <a:pt x="33909" y="0"/>
                </a:moveTo>
                <a:lnTo>
                  <a:pt x="33909" y="0"/>
                </a:lnTo>
                <a:lnTo>
                  <a:pt x="33909" y="1638300"/>
                </a:lnTo>
                <a:lnTo>
                  <a:pt x="33909" y="1638300"/>
                </a:lnTo>
                <a:cubicBezTo>
                  <a:pt x="15182" y="1638300"/>
                  <a:pt x="0" y="1623118"/>
                  <a:pt x="0" y="1604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05367" y="1333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62504" y="13335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00667" y="13906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Proxy Labels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5367" y="18288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FER-2013 has emotion labels, not stress labels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we map them to three stress levels with a documented heuristic.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5367" y="240030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This introduces systematic bias: emotion-stress mapping is approximate, not ground truth.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7933" y="2933700"/>
            <a:ext cx="5598583" cy="1638300"/>
          </a:xfrm>
          <a:custGeom>
            <a:avLst/>
            <a:gdLst/>
            <a:ahLst/>
            <a:cxnLst/>
            <a:rect l="l" t="t" r="r" b="b"/>
            <a:pathLst>
              <a:path w="5598583" h="1638300">
                <a:moveTo>
                  <a:pt x="33909" y="0"/>
                </a:moveTo>
                <a:lnTo>
                  <a:pt x="5522341" y="0"/>
                </a:lnTo>
                <a:cubicBezTo>
                  <a:pt x="5564397" y="0"/>
                  <a:pt x="5598541" y="34144"/>
                  <a:pt x="5598541" y="76200"/>
                </a:cubicBezTo>
                <a:lnTo>
                  <a:pt x="5598541" y="1562100"/>
                </a:lnTo>
                <a:cubicBezTo>
                  <a:pt x="5598541" y="1604156"/>
                  <a:pt x="5564397" y="1638300"/>
                  <a:pt x="5522341" y="1638300"/>
                </a:cubicBezTo>
                <a:lnTo>
                  <a:pt x="33909" y="1638300"/>
                </a:lnTo>
                <a:cubicBezTo>
                  <a:pt x="15182" y="1638300"/>
                  <a:pt x="0" y="1623118"/>
                  <a:pt x="0" y="1604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397933" y="2933700"/>
            <a:ext cx="33867" cy="1638300"/>
          </a:xfrm>
          <a:custGeom>
            <a:avLst/>
            <a:gdLst/>
            <a:ahLst/>
            <a:cxnLst/>
            <a:rect l="l" t="t" r="r" b="b"/>
            <a:pathLst>
              <a:path w="33867" h="1638300">
                <a:moveTo>
                  <a:pt x="33909" y="0"/>
                </a:moveTo>
                <a:lnTo>
                  <a:pt x="33909" y="0"/>
                </a:lnTo>
                <a:lnTo>
                  <a:pt x="33909" y="1638300"/>
                </a:lnTo>
                <a:lnTo>
                  <a:pt x="33909" y="1638300"/>
                </a:lnTo>
                <a:cubicBezTo>
                  <a:pt x="15182" y="1638300"/>
                  <a:pt x="0" y="1623118"/>
                  <a:pt x="0" y="1604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67" y="31242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62504" y="31242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667" y="318135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Tiny Fatigue Dataset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5367" y="36195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Only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~400 fatigue images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total; test split is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n=33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We are explicit about this limitation throughout.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5367" y="419100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Statistical power is severely limited; results are encouraging but not robust.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08183" y="1143000"/>
            <a:ext cx="5598583" cy="1638300"/>
          </a:xfrm>
          <a:custGeom>
            <a:avLst/>
            <a:gdLst/>
            <a:ahLst/>
            <a:cxnLst/>
            <a:rect l="l" t="t" r="r" b="b"/>
            <a:pathLst>
              <a:path w="5598583" h="1638300">
                <a:moveTo>
                  <a:pt x="33909" y="0"/>
                </a:moveTo>
                <a:lnTo>
                  <a:pt x="5522341" y="0"/>
                </a:lnTo>
                <a:cubicBezTo>
                  <a:pt x="5564397" y="0"/>
                  <a:pt x="5598541" y="34144"/>
                  <a:pt x="5598541" y="76200"/>
                </a:cubicBezTo>
                <a:lnTo>
                  <a:pt x="5598541" y="1562100"/>
                </a:lnTo>
                <a:cubicBezTo>
                  <a:pt x="5598541" y="1604156"/>
                  <a:pt x="5564397" y="1638300"/>
                  <a:pt x="5522341" y="1638300"/>
                </a:cubicBezTo>
                <a:lnTo>
                  <a:pt x="33909" y="1638300"/>
                </a:lnTo>
                <a:cubicBezTo>
                  <a:pt x="15182" y="1638300"/>
                  <a:pt x="0" y="1623118"/>
                  <a:pt x="0" y="1604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208183" y="1143000"/>
            <a:ext cx="33867" cy="1638300"/>
          </a:xfrm>
          <a:custGeom>
            <a:avLst/>
            <a:gdLst/>
            <a:ahLst/>
            <a:cxnLst/>
            <a:rect l="l" t="t" r="r" b="b"/>
            <a:pathLst>
              <a:path w="33867" h="1638300">
                <a:moveTo>
                  <a:pt x="33909" y="0"/>
                </a:moveTo>
                <a:lnTo>
                  <a:pt x="33909" y="0"/>
                </a:lnTo>
                <a:lnTo>
                  <a:pt x="33909" y="1638300"/>
                </a:lnTo>
                <a:lnTo>
                  <a:pt x="33909" y="1638300"/>
                </a:lnTo>
                <a:cubicBezTo>
                  <a:pt x="15182" y="1638300"/>
                  <a:pt x="0" y="1623118"/>
                  <a:pt x="0" y="1604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5617" y="13335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372754" y="13335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10917" y="139065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 Temporal Cues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15617" y="18288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Single-frame fatigue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is much harder than single-clip fatigue. Blink rate, micro-expressions need video.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15617" y="240030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Static images miss dynamic behavioral markers critical for fatigue assessment.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08183" y="2933700"/>
            <a:ext cx="5598583" cy="1638300"/>
          </a:xfrm>
          <a:custGeom>
            <a:avLst/>
            <a:gdLst/>
            <a:ahLst/>
            <a:cxnLst/>
            <a:rect l="l" t="t" r="r" b="b"/>
            <a:pathLst>
              <a:path w="5598583" h="1638300">
                <a:moveTo>
                  <a:pt x="33909" y="0"/>
                </a:moveTo>
                <a:lnTo>
                  <a:pt x="5522341" y="0"/>
                </a:lnTo>
                <a:cubicBezTo>
                  <a:pt x="5564397" y="0"/>
                  <a:pt x="5598541" y="34144"/>
                  <a:pt x="5598541" y="76200"/>
                </a:cubicBezTo>
                <a:lnTo>
                  <a:pt x="5598541" y="1562100"/>
                </a:lnTo>
                <a:cubicBezTo>
                  <a:pt x="5598541" y="1604156"/>
                  <a:pt x="5564397" y="1638300"/>
                  <a:pt x="5522341" y="1638300"/>
                </a:cubicBezTo>
                <a:lnTo>
                  <a:pt x="33909" y="1638300"/>
                </a:lnTo>
                <a:cubicBezTo>
                  <a:pt x="15182" y="1638300"/>
                  <a:pt x="0" y="1623118"/>
                  <a:pt x="0" y="1604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208183" y="2933700"/>
            <a:ext cx="33867" cy="1638300"/>
          </a:xfrm>
          <a:custGeom>
            <a:avLst/>
            <a:gdLst/>
            <a:ahLst/>
            <a:cxnLst/>
            <a:rect l="l" t="t" r="r" b="b"/>
            <a:pathLst>
              <a:path w="33867" h="1638300">
                <a:moveTo>
                  <a:pt x="33909" y="0"/>
                </a:moveTo>
                <a:lnTo>
                  <a:pt x="33909" y="0"/>
                </a:lnTo>
                <a:lnTo>
                  <a:pt x="33909" y="1638300"/>
                </a:lnTo>
                <a:lnTo>
                  <a:pt x="33909" y="1638300"/>
                </a:lnTo>
                <a:cubicBezTo>
                  <a:pt x="15182" y="1638300"/>
                  <a:pt x="0" y="1623118"/>
                  <a:pt x="0" y="1604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6415617" y="31242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372754" y="31242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10917" y="31813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Demographic Skew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15617" y="36195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FER-2013 is not balanced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across age, ethnicity, and gender; we flag this as important future work.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15617" y="4191000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may not generalize equitably across populations without fairness auditing.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5233" y="5930899"/>
            <a:ext cx="11419417" cy="541867"/>
          </a:xfrm>
          <a:prstGeom prst="roundRect">
            <a:avLst>
              <a:gd name="adj" fmla="val 14062"/>
            </a:avLst>
          </a:prstGeom>
          <a:solidFill>
            <a:srgbClr val="8B0000">
              <a:alpha val="5098"/>
            </a:srgbClr>
          </a:solidFill>
          <a:ln w="11289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0442" y="610446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64294"/>
                </a:moveTo>
                <a:cubicBezTo>
                  <a:pt x="0" y="44559"/>
                  <a:pt x="15984" y="28575"/>
                  <a:pt x="35719" y="28575"/>
                </a:cubicBezTo>
                <a:lnTo>
                  <a:pt x="38100" y="28575"/>
                </a:lnTo>
                <a:cubicBezTo>
                  <a:pt x="43369" y="28575"/>
                  <a:pt x="47625" y="32831"/>
                  <a:pt x="47625" y="38100"/>
                </a:cubicBezTo>
                <a:cubicBezTo>
                  <a:pt x="47625" y="43369"/>
                  <a:pt x="43369" y="47625"/>
                  <a:pt x="38100" y="47625"/>
                </a:cubicBezTo>
                <a:lnTo>
                  <a:pt x="35719" y="47625"/>
                </a:lnTo>
                <a:cubicBezTo>
                  <a:pt x="26521" y="47625"/>
                  <a:pt x="19050" y="55096"/>
                  <a:pt x="19050" y="64294"/>
                </a:cubicBezTo>
                <a:lnTo>
                  <a:pt x="19050" y="66675"/>
                </a:lnTo>
                <a:lnTo>
                  <a:pt x="38100" y="66675"/>
                </a:lnTo>
                <a:cubicBezTo>
                  <a:pt x="48607" y="66675"/>
                  <a:pt x="57150" y="75218"/>
                  <a:pt x="57150" y="85725"/>
                </a:cubicBezTo>
                <a:lnTo>
                  <a:pt x="57150" y="104775"/>
                </a:lnTo>
                <a:cubicBezTo>
                  <a:pt x="57150" y="115282"/>
                  <a:pt x="48607" y="123825"/>
                  <a:pt x="38100" y="123825"/>
                </a:cubicBezTo>
                <a:lnTo>
                  <a:pt x="19050" y="123825"/>
                </a:lnTo>
                <a:cubicBezTo>
                  <a:pt x="8543" y="123825"/>
                  <a:pt x="0" y="115282"/>
                  <a:pt x="0" y="104775"/>
                </a:cubicBezTo>
                <a:lnTo>
                  <a:pt x="0" y="64294"/>
                </a:lnTo>
                <a:close/>
                <a:moveTo>
                  <a:pt x="76200" y="64294"/>
                </a:moveTo>
                <a:cubicBezTo>
                  <a:pt x="76200" y="44559"/>
                  <a:pt x="92184" y="28575"/>
                  <a:pt x="111919" y="28575"/>
                </a:cubicBezTo>
                <a:lnTo>
                  <a:pt x="114300" y="28575"/>
                </a:lnTo>
                <a:cubicBezTo>
                  <a:pt x="119569" y="28575"/>
                  <a:pt x="123825" y="32831"/>
                  <a:pt x="123825" y="38100"/>
                </a:cubicBezTo>
                <a:cubicBezTo>
                  <a:pt x="123825" y="43369"/>
                  <a:pt x="119569" y="47625"/>
                  <a:pt x="114300" y="47625"/>
                </a:cubicBezTo>
                <a:lnTo>
                  <a:pt x="111919" y="47625"/>
                </a:lnTo>
                <a:cubicBezTo>
                  <a:pt x="102721" y="47625"/>
                  <a:pt x="95250" y="55096"/>
                  <a:pt x="95250" y="64294"/>
                </a:cubicBezTo>
                <a:lnTo>
                  <a:pt x="95250" y="66675"/>
                </a:lnTo>
                <a:lnTo>
                  <a:pt x="114300" y="66675"/>
                </a:lnTo>
                <a:cubicBezTo>
                  <a:pt x="124807" y="66675"/>
                  <a:pt x="133350" y="75218"/>
                  <a:pt x="133350" y="85725"/>
                </a:cubicBezTo>
                <a:lnTo>
                  <a:pt x="133350" y="104775"/>
                </a:lnTo>
                <a:cubicBezTo>
                  <a:pt x="133350" y="115282"/>
                  <a:pt x="124807" y="123825"/>
                  <a:pt x="114300" y="123825"/>
                </a:cubicBezTo>
                <a:lnTo>
                  <a:pt x="95250" y="123825"/>
                </a:lnTo>
                <a:cubicBezTo>
                  <a:pt x="84743" y="123825"/>
                  <a:pt x="76200" y="115282"/>
                  <a:pt x="76200" y="104775"/>
                </a:cubicBezTo>
                <a:lnTo>
                  <a:pt x="76200" y="6429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789517" y="6087533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Intellectual honesty shapes interpretation.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Calling out limitations up front ensures readers interpret every later number with appropriate skepticism.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4514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&amp; Preprocessing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219200" cy="381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16719" y="1181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19125" y="1143000"/>
            <a:ext cx="547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Datasets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524000"/>
          <a:ext cx="5619750" cy="1181100"/>
        </p:xfrm>
        <a:graphic>
          <a:graphicData uri="http://schemas.openxmlformats.org/drawingml/2006/table">
            <a:tbl>
              <a:tblPr/>
              <a:tblGrid>
                <a:gridCol w="1200150"/>
                <a:gridCol w="1219200"/>
                <a:gridCol w="809625"/>
                <a:gridCol w="2390775"/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Dataset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Task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Size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Notes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FER-2013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Stress (3)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35,887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Emotion → stress proxy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Yawn-Eye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Fatigue (2)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433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Subject-grouped split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81000" y="2815168"/>
            <a:ext cx="5619750" cy="533400"/>
          </a:xfrm>
          <a:prstGeom prst="roundRect">
            <a:avLst>
              <a:gd name="adj" fmla="val 14286"/>
            </a:avLst>
          </a:prstGeom>
          <a:solidFill>
            <a:srgbClr val="F9FAFB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" y="2967568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Splits: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70/15/15 — train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25,300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/ val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5,653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/ test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5,367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5063" y="11811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429375" y="1143000"/>
            <a:ext cx="547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 Proxy Mapping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08183" y="1524000"/>
            <a:ext cx="5598583" cy="495300"/>
          </a:xfrm>
          <a:custGeom>
            <a:avLst/>
            <a:gdLst/>
            <a:ahLst/>
            <a:cxnLst/>
            <a:rect l="l" t="t" r="r" b="b"/>
            <a:pathLst>
              <a:path w="5598583" h="495300">
                <a:moveTo>
                  <a:pt x="33909" y="0"/>
                </a:moveTo>
                <a:lnTo>
                  <a:pt x="5522341" y="0"/>
                </a:lnTo>
                <a:cubicBezTo>
                  <a:pt x="5564397" y="0"/>
                  <a:pt x="5598541" y="34144"/>
                  <a:pt x="5598541" y="76200"/>
                </a:cubicBezTo>
                <a:lnTo>
                  <a:pt x="5598541" y="419100"/>
                </a:lnTo>
                <a:cubicBezTo>
                  <a:pt x="5598541" y="461156"/>
                  <a:pt x="5564397" y="495300"/>
                  <a:pt x="5522341" y="495300"/>
                </a:cubicBezTo>
                <a:lnTo>
                  <a:pt x="33909" y="495300"/>
                </a:lnTo>
                <a:cubicBezTo>
                  <a:pt x="15182" y="495300"/>
                  <a:pt x="0" y="480118"/>
                  <a:pt x="0" y="461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0FDF4"/>
          </a:solidFill>
          <a:ln/>
        </p:spPr>
      </p:sp>
      <p:sp>
        <p:nvSpPr>
          <p:cNvPr id="14" name="Shape 11"/>
          <p:cNvSpPr/>
          <p:nvPr/>
        </p:nvSpPr>
        <p:spPr>
          <a:xfrm>
            <a:off x="6208183" y="1524000"/>
            <a:ext cx="33867" cy="495300"/>
          </a:xfrm>
          <a:custGeom>
            <a:avLst/>
            <a:gdLst/>
            <a:ahLst/>
            <a:cxnLst/>
            <a:rect l="l" t="t" r="r" b="b"/>
            <a:pathLst>
              <a:path w="33867" h="495300">
                <a:moveTo>
                  <a:pt x="33909" y="0"/>
                </a:moveTo>
                <a:lnTo>
                  <a:pt x="33909" y="0"/>
                </a:lnTo>
                <a:lnTo>
                  <a:pt x="33909" y="495300"/>
                </a:lnTo>
                <a:lnTo>
                  <a:pt x="33909" y="495300"/>
                </a:lnTo>
                <a:cubicBezTo>
                  <a:pt x="15182" y="495300"/>
                  <a:pt x="0" y="480118"/>
                  <a:pt x="0" y="461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5" name="Shape 12"/>
          <p:cNvSpPr/>
          <p:nvPr/>
        </p:nvSpPr>
        <p:spPr>
          <a:xfrm>
            <a:off x="6511131" y="1638300"/>
            <a:ext cx="571500" cy="266700"/>
          </a:xfrm>
          <a:prstGeom prst="roundRect">
            <a:avLst>
              <a:gd name="adj" fmla="val 50000"/>
            </a:avLst>
          </a:prstGeom>
          <a:solidFill>
            <a:srgbClr val="00C950"/>
          </a:solidFill>
          <a:ln/>
        </p:spPr>
      </p:sp>
      <p:sp>
        <p:nvSpPr>
          <p:cNvPr id="16" name="Text 13"/>
          <p:cNvSpPr/>
          <p:nvPr/>
        </p:nvSpPr>
        <p:spPr>
          <a:xfrm>
            <a:off x="6477794" y="1638300"/>
            <a:ext cx="6381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LOW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68117" y="165735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happy / surprise / neutral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08183" y="2095500"/>
            <a:ext cx="5598583" cy="495300"/>
          </a:xfrm>
          <a:custGeom>
            <a:avLst/>
            <a:gdLst/>
            <a:ahLst/>
            <a:cxnLst/>
            <a:rect l="l" t="t" r="r" b="b"/>
            <a:pathLst>
              <a:path w="5598583" h="495300">
                <a:moveTo>
                  <a:pt x="33909" y="0"/>
                </a:moveTo>
                <a:lnTo>
                  <a:pt x="5522341" y="0"/>
                </a:lnTo>
                <a:cubicBezTo>
                  <a:pt x="5564397" y="0"/>
                  <a:pt x="5598541" y="34144"/>
                  <a:pt x="5598541" y="76200"/>
                </a:cubicBezTo>
                <a:lnTo>
                  <a:pt x="5598541" y="419100"/>
                </a:lnTo>
                <a:cubicBezTo>
                  <a:pt x="5598541" y="461156"/>
                  <a:pt x="5564397" y="495300"/>
                  <a:pt x="5522341" y="495300"/>
                </a:cubicBezTo>
                <a:lnTo>
                  <a:pt x="33909" y="495300"/>
                </a:lnTo>
                <a:cubicBezTo>
                  <a:pt x="15182" y="495300"/>
                  <a:pt x="0" y="480118"/>
                  <a:pt x="0" y="461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19" name="Shape 16"/>
          <p:cNvSpPr/>
          <p:nvPr/>
        </p:nvSpPr>
        <p:spPr>
          <a:xfrm>
            <a:off x="6208183" y="2095500"/>
            <a:ext cx="33867" cy="495300"/>
          </a:xfrm>
          <a:custGeom>
            <a:avLst/>
            <a:gdLst/>
            <a:ahLst/>
            <a:cxnLst/>
            <a:rect l="l" t="t" r="r" b="b"/>
            <a:pathLst>
              <a:path w="33867" h="495300">
                <a:moveTo>
                  <a:pt x="33909" y="0"/>
                </a:moveTo>
                <a:lnTo>
                  <a:pt x="33909" y="0"/>
                </a:lnTo>
                <a:lnTo>
                  <a:pt x="33909" y="495300"/>
                </a:lnTo>
                <a:lnTo>
                  <a:pt x="33909" y="495300"/>
                </a:lnTo>
                <a:cubicBezTo>
                  <a:pt x="15182" y="495300"/>
                  <a:pt x="0" y="480118"/>
                  <a:pt x="0" y="461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0" name="Shape 17"/>
          <p:cNvSpPr/>
          <p:nvPr/>
        </p:nvSpPr>
        <p:spPr>
          <a:xfrm>
            <a:off x="6339417" y="2209800"/>
            <a:ext cx="1028700" cy="266700"/>
          </a:xfrm>
          <a:prstGeom prst="roundRect">
            <a:avLst>
              <a:gd name="adj" fmla="val 50000"/>
            </a:avLst>
          </a:prstGeom>
          <a:solidFill>
            <a:srgbClr val="F0B100"/>
          </a:solidFill>
          <a:ln/>
        </p:spPr>
      </p:sp>
      <p:sp>
        <p:nvSpPr>
          <p:cNvPr id="21" name="Text 18"/>
          <p:cNvSpPr/>
          <p:nvPr/>
        </p:nvSpPr>
        <p:spPr>
          <a:xfrm>
            <a:off x="6306079" y="2209800"/>
            <a:ext cx="10953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MODERATE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68117" y="2228850"/>
            <a:ext cx="29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sad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08183" y="2667000"/>
            <a:ext cx="5598583" cy="495300"/>
          </a:xfrm>
          <a:custGeom>
            <a:avLst/>
            <a:gdLst/>
            <a:ahLst/>
            <a:cxnLst/>
            <a:rect l="l" t="t" r="r" b="b"/>
            <a:pathLst>
              <a:path w="5598583" h="495300">
                <a:moveTo>
                  <a:pt x="33909" y="0"/>
                </a:moveTo>
                <a:lnTo>
                  <a:pt x="5522341" y="0"/>
                </a:lnTo>
                <a:cubicBezTo>
                  <a:pt x="5564397" y="0"/>
                  <a:pt x="5598541" y="34144"/>
                  <a:pt x="5598541" y="76200"/>
                </a:cubicBezTo>
                <a:lnTo>
                  <a:pt x="5598541" y="419100"/>
                </a:lnTo>
                <a:cubicBezTo>
                  <a:pt x="5598541" y="461156"/>
                  <a:pt x="5564397" y="495300"/>
                  <a:pt x="5522341" y="495300"/>
                </a:cubicBezTo>
                <a:lnTo>
                  <a:pt x="33909" y="495300"/>
                </a:lnTo>
                <a:cubicBezTo>
                  <a:pt x="15182" y="495300"/>
                  <a:pt x="0" y="480118"/>
                  <a:pt x="0" y="461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4" name="Shape 21"/>
          <p:cNvSpPr/>
          <p:nvPr/>
        </p:nvSpPr>
        <p:spPr>
          <a:xfrm>
            <a:off x="6208183" y="2667000"/>
            <a:ext cx="33867" cy="495300"/>
          </a:xfrm>
          <a:custGeom>
            <a:avLst/>
            <a:gdLst/>
            <a:ahLst/>
            <a:cxnLst/>
            <a:rect l="l" t="t" r="r" b="b"/>
            <a:pathLst>
              <a:path w="33867" h="495300">
                <a:moveTo>
                  <a:pt x="33909" y="0"/>
                </a:moveTo>
                <a:lnTo>
                  <a:pt x="33909" y="0"/>
                </a:lnTo>
                <a:lnTo>
                  <a:pt x="33909" y="495300"/>
                </a:lnTo>
                <a:lnTo>
                  <a:pt x="33909" y="495300"/>
                </a:lnTo>
                <a:cubicBezTo>
                  <a:pt x="15182" y="495300"/>
                  <a:pt x="0" y="480118"/>
                  <a:pt x="0" y="4613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5" name="Shape 22"/>
          <p:cNvSpPr/>
          <p:nvPr/>
        </p:nvSpPr>
        <p:spPr>
          <a:xfrm>
            <a:off x="6500415" y="2781300"/>
            <a:ext cx="590550" cy="266700"/>
          </a:xfrm>
          <a:prstGeom prst="roundRect">
            <a:avLst>
              <a:gd name="adj" fmla="val 50000"/>
            </a:avLst>
          </a:prstGeom>
          <a:solidFill>
            <a:srgbClr val="FB2C36"/>
          </a:solidFill>
          <a:ln/>
        </p:spPr>
      </p:sp>
      <p:sp>
        <p:nvSpPr>
          <p:cNvPr id="26" name="Text 23"/>
          <p:cNvSpPr/>
          <p:nvPr/>
        </p:nvSpPr>
        <p:spPr>
          <a:xfrm>
            <a:off x="6467078" y="2781300"/>
            <a:ext cx="6572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368117" y="280035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angry / fear / disgust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85233" y="3543301"/>
            <a:ext cx="11419417" cy="1722967"/>
          </a:xfrm>
          <a:prstGeom prst="roundRect">
            <a:avLst>
              <a:gd name="adj" fmla="val 4423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3779" y="377613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818092" y="3738035"/>
            <a:ext cx="1088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Augmentation Strategy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2139156" y="411903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2272506" y="425238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541867" y="4652435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RandAugment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46629" y="4881035"/>
            <a:ext cx="3638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N=2, M=9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867268" y="411903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000618" y="425238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4"/>
          <p:cNvSpPr/>
          <p:nvPr/>
        </p:nvSpPr>
        <p:spPr>
          <a:xfrm>
            <a:off x="4269978" y="4652435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Horizontal Flip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274741" y="4881035"/>
            <a:ext cx="3638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p=0.5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9595511" y="411903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9728861" y="425238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11"/>
                  <a:pt x="134689" y="23812"/>
                  <a:pt x="95250" y="23812"/>
                </a:cubicBezTo>
                <a:lnTo>
                  <a:pt x="95250" y="166688"/>
                </a:lnTo>
                <a:cubicBezTo>
                  <a:pt x="134689" y="166688"/>
                  <a:pt x="166688" y="134689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Text 38"/>
          <p:cNvSpPr/>
          <p:nvPr/>
        </p:nvSpPr>
        <p:spPr>
          <a:xfrm>
            <a:off x="7998090" y="4652435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Mild Jitter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002852" y="4881035"/>
            <a:ext cx="3638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Color augmentation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27527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219200" cy="381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04813" y="1143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19125" y="1104900"/>
            <a:ext cx="6581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233" y="1490133"/>
            <a:ext cx="6714067" cy="4980517"/>
          </a:xfrm>
          <a:prstGeom prst="roundRect">
            <a:avLst>
              <a:gd name="adj" fmla="val 1530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3767" y="176953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22500" y="1689100"/>
            <a:ext cx="4675717" cy="389467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1289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80167" y="1684867"/>
            <a:ext cx="474345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 (224×224×3)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84191" y="215900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3767" y="256751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Backbone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22500" y="2391834"/>
            <a:ext cx="4675717" cy="579967"/>
          </a:xfrm>
          <a:prstGeom prst="roundRect">
            <a:avLst>
              <a:gd name="adj" fmla="val 6569"/>
            </a:avLst>
          </a:prstGeom>
          <a:solidFill>
            <a:srgbClr val="8B0000">
              <a:alpha val="10196"/>
            </a:srgbClr>
          </a:solidFill>
          <a:ln w="11289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80167" y="2387601"/>
            <a:ext cx="4743450" cy="5715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DINOv2-small (ViT) </a:t>
            </a:r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layers 0-8 frozen, 9+ fine-tuned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84191" y="305223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3767" y="3365499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CLS Token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222500" y="3285068"/>
            <a:ext cx="4675717" cy="389467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1289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80167" y="3280835"/>
            <a:ext cx="4743450" cy="3810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384-d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84191" y="3754966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3767" y="4049183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Shared Trunk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222500" y="3987799"/>
            <a:ext cx="4675717" cy="351367"/>
          </a:xfrm>
          <a:prstGeom prst="roundRect">
            <a:avLst>
              <a:gd name="adj" fmla="val 10843"/>
            </a:avLst>
          </a:prstGeom>
          <a:solidFill>
            <a:srgbClr val="8B0000">
              <a:alpha val="10196"/>
            </a:srgbClr>
          </a:solidFill>
          <a:ln w="11289">
            <a:solidFill>
              <a:srgbClr val="8B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84929" y="3983566"/>
            <a:ext cx="4733925" cy="3429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Linear(384→256) → LN → GELU → Dropout(0.3)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84191" y="4419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84200" y="4652433"/>
            <a:ext cx="3075517" cy="694267"/>
          </a:xfrm>
          <a:prstGeom prst="roundRect">
            <a:avLst>
              <a:gd name="adj" fmla="val 5488"/>
            </a:avLst>
          </a:prstGeom>
          <a:solidFill>
            <a:srgbClr val="F0FDF4"/>
          </a:solidFill>
          <a:ln w="11289">
            <a:solidFill>
              <a:srgbClr val="7BF1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633" y="4770967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82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Stress Head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9396" y="5037667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 → 3 classes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21774" y="4652433"/>
            <a:ext cx="3075517" cy="694267"/>
          </a:xfrm>
          <a:prstGeom prst="roundRect">
            <a:avLst>
              <a:gd name="adj" fmla="val 5488"/>
            </a:avLst>
          </a:prstGeom>
          <a:solidFill>
            <a:srgbClr val="EFF6FF"/>
          </a:solidFill>
          <a:ln w="11289">
            <a:solidFill>
              <a:srgbClr val="8EC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02207" y="4770967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447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Fatigue Head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06970" y="5037667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 → 2 classes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34647" y="1109133"/>
            <a:ext cx="4475692" cy="3313642"/>
          </a:xfrm>
          <a:prstGeom prst="roundRect">
            <a:avLst>
              <a:gd name="adj" fmla="val 2300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53193" y="134196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7767506" y="1303867"/>
            <a:ext cx="3943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Specifications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29381" y="2184400"/>
            <a:ext cx="4086225" cy="8467"/>
          </a:xfrm>
          <a:prstGeom prst="roundRect">
            <a:avLst>
              <a:gd name="adj" fmla="val 0"/>
            </a:avLst>
          </a:pr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7529381" y="1837134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Total Parameters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23335" y="1799167"/>
            <a:ext cx="704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22.2M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29381" y="2764235"/>
            <a:ext cx="4086225" cy="8467"/>
          </a:xfrm>
          <a:prstGeom prst="roundRect">
            <a:avLst>
              <a:gd name="adj" fmla="val 0"/>
            </a:avLst>
          </a:prstGeom>
          <a:solidFill>
            <a:srgbClr val="E5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7529381" y="2416969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Trainable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39740" y="2379001"/>
            <a:ext cx="68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5.49M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29381" y="3344069"/>
            <a:ext cx="4086225" cy="8467"/>
          </a:xfrm>
          <a:prstGeom prst="roundRect">
            <a:avLst>
              <a:gd name="adj" fmla="val 0"/>
            </a:avLst>
          </a:prstGeom>
          <a:solidFill>
            <a:srgbClr val="E5E7EB"/>
          </a:solidFill>
          <a:ln/>
        </p:spPr>
      </p:sp>
      <p:sp>
        <p:nvSpPr>
          <p:cNvPr id="41" name="Text 39"/>
          <p:cNvSpPr/>
          <p:nvPr/>
        </p:nvSpPr>
        <p:spPr>
          <a:xfrm>
            <a:off x="7529381" y="2996803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Trainable 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041327" y="2958836"/>
            <a:ext cx="68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24.7%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29381" y="3576638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Training Time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02157" y="3538670"/>
            <a:ext cx="828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~25 min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878094" y="404230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7696068" y="4033837"/>
            <a:ext cx="395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 Tesla T4 GPU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47347" y="4575704"/>
            <a:ext cx="4465108" cy="1047750"/>
          </a:xfrm>
          <a:custGeom>
            <a:avLst/>
            <a:gdLst/>
            <a:ahLst/>
            <a:cxnLst/>
            <a:rect l="l" t="t" r="r" b="b"/>
            <a:pathLst>
              <a:path w="4465108" h="1047750">
                <a:moveTo>
                  <a:pt x="0" y="0"/>
                </a:moveTo>
                <a:lnTo>
                  <a:pt x="4388866" y="0"/>
                </a:lnTo>
                <a:cubicBezTo>
                  <a:pt x="4430922" y="0"/>
                  <a:pt x="4465066" y="34144"/>
                  <a:pt x="4465066" y="76200"/>
                </a:cubicBezTo>
                <a:lnTo>
                  <a:pt x="4465066" y="971550"/>
                </a:lnTo>
                <a:cubicBezTo>
                  <a:pt x="4465066" y="1013606"/>
                  <a:pt x="4430922" y="1047750"/>
                  <a:pt x="4388866" y="1047750"/>
                </a:cubicBez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347347" y="4575704"/>
            <a:ext cx="33867" cy="104775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7516680" y="4728104"/>
            <a:ext cx="4219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insight: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Partial-freeze + multi-task. Most of the backbone is frozen; the shared trunk and top transformer layers do the task-specific work.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 Rationale: DINOv2 + Multi-Task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219200" cy="381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143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14350" y="1276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121920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DINOv2 over ResNet-50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7933" y="1752600"/>
            <a:ext cx="5579533" cy="1028700"/>
          </a:xfrm>
          <a:custGeom>
            <a:avLst/>
            <a:gdLst/>
            <a:ahLst/>
            <a:cxnLst/>
            <a:rect l="l" t="t" r="r" b="b"/>
            <a:pathLst>
              <a:path w="5579533" h="10287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952500"/>
                </a:lnTo>
                <a:cubicBezTo>
                  <a:pt x="5579491" y="994556"/>
                  <a:pt x="5545347" y="1028700"/>
                  <a:pt x="5503291" y="1028700"/>
                </a:cubicBezTo>
                <a:lnTo>
                  <a:pt x="33909" y="1028700"/>
                </a:lnTo>
                <a:cubicBezTo>
                  <a:pt x="15182" y="1028700"/>
                  <a:pt x="0" y="1013518"/>
                  <a:pt x="0" y="9947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0" name="Shape 8"/>
          <p:cNvSpPr/>
          <p:nvPr/>
        </p:nvSpPr>
        <p:spPr>
          <a:xfrm>
            <a:off x="397933" y="1752600"/>
            <a:ext cx="33867" cy="1028700"/>
          </a:xfrm>
          <a:custGeom>
            <a:avLst/>
            <a:gdLst/>
            <a:ahLst/>
            <a:cxnLst/>
            <a:rect l="l" t="t" r="r" b="b"/>
            <a:pathLst>
              <a:path w="33867" h="1028700">
                <a:moveTo>
                  <a:pt x="33909" y="0"/>
                </a:moveTo>
                <a:lnTo>
                  <a:pt x="33909" y="0"/>
                </a:lnTo>
                <a:lnTo>
                  <a:pt x="33909" y="1028700"/>
                </a:lnTo>
                <a:lnTo>
                  <a:pt x="33909" y="1028700"/>
                </a:lnTo>
                <a:cubicBezTo>
                  <a:pt x="15182" y="1028700"/>
                  <a:pt x="0" y="1013518"/>
                  <a:pt x="0" y="9947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567267" y="19431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2992" y="2019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986367" y="19050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Self-supervised pretraining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6367" y="21717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Trained on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142M images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without labels — learns robust visual representations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7933" y="2933700"/>
            <a:ext cx="5579533" cy="800100"/>
          </a:xfrm>
          <a:custGeom>
            <a:avLst/>
            <a:gdLst/>
            <a:ahLst/>
            <a:cxnLst/>
            <a:rect l="l" t="t" r="r" b="b"/>
            <a:pathLst>
              <a:path w="5579533" h="8001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723900"/>
                </a:lnTo>
                <a:cubicBezTo>
                  <a:pt x="5579491" y="765956"/>
                  <a:pt x="5545347" y="800100"/>
                  <a:pt x="5503291" y="800100"/>
                </a:cubicBezTo>
                <a:lnTo>
                  <a:pt x="33909" y="800100"/>
                </a:lnTo>
                <a:cubicBezTo>
                  <a:pt x="15182" y="800100"/>
                  <a:pt x="0" y="784918"/>
                  <a:pt x="0" y="7661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397933" y="2933700"/>
            <a:ext cx="33867" cy="800100"/>
          </a:xfrm>
          <a:custGeom>
            <a:avLst/>
            <a:gdLst/>
            <a:ahLst/>
            <a:cxnLst/>
            <a:rect l="l" t="t" r="r" b="b"/>
            <a:pathLst>
              <a:path w="33867" h="800100">
                <a:moveTo>
                  <a:pt x="33909" y="0"/>
                </a:moveTo>
                <a:lnTo>
                  <a:pt x="33909" y="0"/>
                </a:lnTo>
                <a:lnTo>
                  <a:pt x="33909" y="800100"/>
                </a:lnTo>
                <a:lnTo>
                  <a:pt x="33909" y="800100"/>
                </a:lnTo>
                <a:cubicBezTo>
                  <a:pt x="15182" y="800100"/>
                  <a:pt x="0" y="784918"/>
                  <a:pt x="0" y="7661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67267" y="31242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3467" y="320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986367" y="3086100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Stronger transfer learning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6367" y="3352800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Better performance on small downstream datasets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[Oquab et al. 2023]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7933" y="3886200"/>
            <a:ext cx="5579533" cy="1028700"/>
          </a:xfrm>
          <a:custGeom>
            <a:avLst/>
            <a:gdLst/>
            <a:ahLst/>
            <a:cxnLst/>
            <a:rect l="l" t="t" r="r" b="b"/>
            <a:pathLst>
              <a:path w="5579533" h="10287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952500"/>
                </a:lnTo>
                <a:cubicBezTo>
                  <a:pt x="5579491" y="994556"/>
                  <a:pt x="5545347" y="1028700"/>
                  <a:pt x="5503291" y="1028700"/>
                </a:cubicBezTo>
                <a:lnTo>
                  <a:pt x="33909" y="1028700"/>
                </a:lnTo>
                <a:cubicBezTo>
                  <a:pt x="15182" y="1028700"/>
                  <a:pt x="0" y="1013518"/>
                  <a:pt x="0" y="9947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397933" y="3886200"/>
            <a:ext cx="33867" cy="1028700"/>
          </a:xfrm>
          <a:custGeom>
            <a:avLst/>
            <a:gdLst/>
            <a:ahLst/>
            <a:cxnLst/>
            <a:rect l="l" t="t" r="r" b="b"/>
            <a:pathLst>
              <a:path w="33867" h="1028700">
                <a:moveTo>
                  <a:pt x="33909" y="0"/>
                </a:moveTo>
                <a:lnTo>
                  <a:pt x="33909" y="0"/>
                </a:lnTo>
                <a:lnTo>
                  <a:pt x="33909" y="1028700"/>
                </a:lnTo>
                <a:lnTo>
                  <a:pt x="33909" y="1028700"/>
                </a:lnTo>
                <a:cubicBezTo>
                  <a:pt x="15182" y="1028700"/>
                  <a:pt x="0" y="1013518"/>
                  <a:pt x="0" y="9947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567267" y="4076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43467" y="4152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986367" y="40386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Aligned pretrain objective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6367" y="43053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Augmentation-invariance objective is well-aligned with affect cues in facial expressions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0300" y="1143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6343650" y="1276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781800" y="1219200"/>
            <a:ext cx="3019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Multi-Task over Independent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27233" y="1752600"/>
            <a:ext cx="5579533" cy="800100"/>
          </a:xfrm>
          <a:custGeom>
            <a:avLst/>
            <a:gdLst/>
            <a:ahLst/>
            <a:cxnLst/>
            <a:rect l="l" t="t" r="r" b="b"/>
            <a:pathLst>
              <a:path w="5579533" h="8001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723900"/>
                </a:lnTo>
                <a:cubicBezTo>
                  <a:pt x="5579491" y="765956"/>
                  <a:pt x="5545347" y="800100"/>
                  <a:pt x="5503291" y="800100"/>
                </a:cubicBezTo>
                <a:lnTo>
                  <a:pt x="33909" y="800100"/>
                </a:lnTo>
                <a:cubicBezTo>
                  <a:pt x="15182" y="800100"/>
                  <a:pt x="0" y="784918"/>
                  <a:pt x="0" y="7661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27233" y="1752600"/>
            <a:ext cx="33867" cy="800100"/>
          </a:xfrm>
          <a:custGeom>
            <a:avLst/>
            <a:gdLst/>
            <a:ahLst/>
            <a:cxnLst/>
            <a:rect l="l" t="t" r="r" b="b"/>
            <a:pathLst>
              <a:path w="33867" h="800100">
                <a:moveTo>
                  <a:pt x="33909" y="0"/>
                </a:moveTo>
                <a:lnTo>
                  <a:pt x="33909" y="0"/>
                </a:lnTo>
                <a:lnTo>
                  <a:pt x="33909" y="800100"/>
                </a:lnTo>
                <a:lnTo>
                  <a:pt x="33909" y="800100"/>
                </a:lnTo>
                <a:cubicBezTo>
                  <a:pt x="15182" y="800100"/>
                  <a:pt x="0" y="784918"/>
                  <a:pt x="0" y="7661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6396567" y="19431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72767" y="201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6815667" y="1905000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Regularization effect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15667" y="2171700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 task (n=25k)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regularizes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the tiny fatigue task (n=400)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27233" y="2705100"/>
            <a:ext cx="5579533" cy="800100"/>
          </a:xfrm>
          <a:custGeom>
            <a:avLst/>
            <a:gdLst/>
            <a:ahLst/>
            <a:cxnLst/>
            <a:rect l="l" t="t" r="r" b="b"/>
            <a:pathLst>
              <a:path w="5579533" h="8001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723900"/>
                </a:lnTo>
                <a:cubicBezTo>
                  <a:pt x="5579491" y="765956"/>
                  <a:pt x="5545347" y="800100"/>
                  <a:pt x="5503291" y="800100"/>
                </a:cubicBezTo>
                <a:lnTo>
                  <a:pt x="33909" y="800100"/>
                </a:lnTo>
                <a:cubicBezTo>
                  <a:pt x="15182" y="800100"/>
                  <a:pt x="0" y="784918"/>
                  <a:pt x="0" y="7661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7" name="Shape 35"/>
          <p:cNvSpPr/>
          <p:nvPr/>
        </p:nvSpPr>
        <p:spPr>
          <a:xfrm>
            <a:off x="6227233" y="2705100"/>
            <a:ext cx="33867" cy="800100"/>
          </a:xfrm>
          <a:custGeom>
            <a:avLst/>
            <a:gdLst/>
            <a:ahLst/>
            <a:cxnLst/>
            <a:rect l="l" t="t" r="r" b="b"/>
            <a:pathLst>
              <a:path w="33867" h="800100">
                <a:moveTo>
                  <a:pt x="33909" y="0"/>
                </a:moveTo>
                <a:lnTo>
                  <a:pt x="33909" y="0"/>
                </a:lnTo>
                <a:lnTo>
                  <a:pt x="33909" y="800100"/>
                </a:lnTo>
                <a:lnTo>
                  <a:pt x="33909" y="800100"/>
                </a:lnTo>
                <a:cubicBezTo>
                  <a:pt x="15182" y="800100"/>
                  <a:pt x="0" y="784918"/>
                  <a:pt x="0" y="7661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6396567" y="28956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72767" y="2971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4300" y="57150"/>
                </a:moveTo>
                <a:cubicBezTo>
                  <a:pt x="130076" y="57150"/>
                  <a:pt x="142875" y="44351"/>
                  <a:pt x="142875" y="28575"/>
                </a:cubicBezTo>
                <a:cubicBezTo>
                  <a:pt x="142875" y="12799"/>
                  <a:pt x="130076" y="0"/>
                  <a:pt x="114300" y="0"/>
                </a:cubicBezTo>
                <a:cubicBezTo>
                  <a:pt x="98524" y="0"/>
                  <a:pt x="85725" y="12799"/>
                  <a:pt x="85725" y="28575"/>
                </a:cubicBezTo>
                <a:cubicBezTo>
                  <a:pt x="85725" y="30182"/>
                  <a:pt x="85874" y="31790"/>
                  <a:pt x="86112" y="33338"/>
                </a:cubicBezTo>
                <a:lnTo>
                  <a:pt x="47506" y="54799"/>
                </a:lnTo>
                <a:cubicBezTo>
                  <a:pt x="42476" y="50334"/>
                  <a:pt x="35838" y="47625"/>
                  <a:pt x="28575" y="47625"/>
                </a:cubicBezTo>
                <a:cubicBezTo>
                  <a:pt x="12799" y="47625"/>
                  <a:pt x="0" y="60424"/>
                  <a:pt x="0" y="76200"/>
                </a:cubicBezTo>
                <a:cubicBezTo>
                  <a:pt x="0" y="91976"/>
                  <a:pt x="12799" y="104775"/>
                  <a:pt x="28575" y="104775"/>
                </a:cubicBezTo>
                <a:cubicBezTo>
                  <a:pt x="35838" y="104775"/>
                  <a:pt x="42446" y="102066"/>
                  <a:pt x="47506" y="97601"/>
                </a:cubicBezTo>
                <a:lnTo>
                  <a:pt x="86112" y="119062"/>
                </a:lnTo>
                <a:cubicBezTo>
                  <a:pt x="85844" y="120610"/>
                  <a:pt x="85725" y="122188"/>
                  <a:pt x="85725" y="123825"/>
                </a:cubicBezTo>
                <a:cubicBezTo>
                  <a:pt x="85725" y="139601"/>
                  <a:pt x="98524" y="152400"/>
                  <a:pt x="114300" y="152400"/>
                </a:cubicBezTo>
                <a:cubicBezTo>
                  <a:pt x="130076" y="152400"/>
                  <a:pt x="142875" y="139601"/>
                  <a:pt x="142875" y="123825"/>
                </a:cubicBezTo>
                <a:cubicBezTo>
                  <a:pt x="142875" y="108049"/>
                  <a:pt x="130076" y="95250"/>
                  <a:pt x="114300" y="95250"/>
                </a:cubicBezTo>
                <a:cubicBezTo>
                  <a:pt x="107037" y="95250"/>
                  <a:pt x="100429" y="97959"/>
                  <a:pt x="95369" y="102424"/>
                </a:cubicBezTo>
                <a:lnTo>
                  <a:pt x="56763" y="80962"/>
                </a:lnTo>
                <a:cubicBezTo>
                  <a:pt x="57031" y="79415"/>
                  <a:pt x="57150" y="77837"/>
                  <a:pt x="57150" y="76200"/>
                </a:cubicBezTo>
                <a:cubicBezTo>
                  <a:pt x="57150" y="74563"/>
                  <a:pt x="57001" y="72985"/>
                  <a:pt x="56763" y="71438"/>
                </a:cubicBezTo>
                <a:lnTo>
                  <a:pt x="95369" y="49976"/>
                </a:lnTo>
                <a:cubicBezTo>
                  <a:pt x="100399" y="54441"/>
                  <a:pt x="107037" y="57150"/>
                  <a:pt x="114300" y="571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815667" y="2857500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Feature reuse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15667" y="3124200"/>
            <a:ext cx="441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Shared low-level cues (eyes, brows, mouth)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learned once, not twice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27233" y="3657600"/>
            <a:ext cx="5579533" cy="800100"/>
          </a:xfrm>
          <a:custGeom>
            <a:avLst/>
            <a:gdLst/>
            <a:ahLst/>
            <a:cxnLst/>
            <a:rect l="l" t="t" r="r" b="b"/>
            <a:pathLst>
              <a:path w="5579533" h="8001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723900"/>
                </a:lnTo>
                <a:cubicBezTo>
                  <a:pt x="5579491" y="765956"/>
                  <a:pt x="5545347" y="800100"/>
                  <a:pt x="5503291" y="800100"/>
                </a:cubicBezTo>
                <a:lnTo>
                  <a:pt x="33909" y="800100"/>
                </a:lnTo>
                <a:cubicBezTo>
                  <a:pt x="15182" y="800100"/>
                  <a:pt x="0" y="784918"/>
                  <a:pt x="0" y="7661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3" name="Shape 41"/>
          <p:cNvSpPr/>
          <p:nvPr/>
        </p:nvSpPr>
        <p:spPr>
          <a:xfrm>
            <a:off x="6227233" y="3657600"/>
            <a:ext cx="33867" cy="800100"/>
          </a:xfrm>
          <a:custGeom>
            <a:avLst/>
            <a:gdLst/>
            <a:ahLst/>
            <a:cxnLst/>
            <a:rect l="l" t="t" r="r" b="b"/>
            <a:pathLst>
              <a:path w="33867" h="800100">
                <a:moveTo>
                  <a:pt x="33909" y="0"/>
                </a:moveTo>
                <a:lnTo>
                  <a:pt x="33909" y="0"/>
                </a:lnTo>
                <a:lnTo>
                  <a:pt x="33909" y="800100"/>
                </a:lnTo>
                <a:lnTo>
                  <a:pt x="33909" y="800100"/>
                </a:lnTo>
                <a:cubicBezTo>
                  <a:pt x="15182" y="800100"/>
                  <a:pt x="0" y="784918"/>
                  <a:pt x="0" y="7661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6396567" y="38481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72767" y="3924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815667" y="3810000"/>
            <a:ext cx="393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Inference efficiency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15667" y="4076700"/>
            <a:ext cx="393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Half the inference cost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single forward pass for both tasks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5233" y="5702299"/>
            <a:ext cx="11419417" cy="770467"/>
          </a:xfrm>
          <a:prstGeom prst="roundRect">
            <a:avLst>
              <a:gd name="adj" fmla="val 9890"/>
            </a:avLst>
          </a:prstGeom>
          <a:solidFill>
            <a:srgbClr val="8B0000">
              <a:alpha val="5098"/>
            </a:srgbClr>
          </a:solidFill>
          <a:ln w="11289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0845" y="587586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751417" y="5858935"/>
            <a:ext cx="1093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Both choices are about data efficiency.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400 fatigue samples, an independent model would memorize the training set. The shared backbone forces general feature learning.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419100"/>
            <a:ext cx="396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Training Setup &amp; Results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219200" cy="381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83381" y="11525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00075" y="1104900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Training Hyperparameters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447800"/>
          <a:ext cx="5619750" cy="2505075"/>
        </p:xfrm>
        <a:graphic>
          <a:graphicData uri="http://schemas.openxmlformats.org/drawingml/2006/table">
            <a:tbl>
              <a:tblPr/>
              <a:tblGrid>
                <a:gridCol w="1781175"/>
                <a:gridCol w="3838575"/>
              </a:tblGrid>
              <a:tr h="314708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Setting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Value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70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Optimizer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AdamW (wd 0.01)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70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Learning Rate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Backbone 3e-5 · Head 3e-4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70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Schedule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500-step warmup → cosine to 1e-6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70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Loss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Masked CE + focal (γ=2.0)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70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Batch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32, fp16 mixed precision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70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Early Stop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Patience 3 on mean bal. acc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212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42 (fully reproducible)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85233" y="4110569"/>
            <a:ext cx="5609167" cy="2103967"/>
          </a:xfrm>
          <a:prstGeom prst="roundRect">
            <a:avLst>
              <a:gd name="adj" fmla="val 3622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5679" y="4314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60942" y="4267200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Training Curve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1867" y="4610100"/>
            <a:ext cx="536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Validation balanced accuracy by epoch: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1867" y="48768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Epoch 0-4: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00033" y="487680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0.5824 → 0.6288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1867" y="510540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Epoch 5-6: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00033" y="510540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0.6104 → 0.6168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1867" y="5334000"/>
            <a:ext cx="5295900" cy="266700"/>
          </a:xfrm>
          <a:prstGeom prst="roundRect">
            <a:avLst>
              <a:gd name="adj" fmla="val 14286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79967" y="5372100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Epoch 7 (BEST):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77367" y="53721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0.6311 ★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1867" y="5638800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Epoch 8-10: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00033" y="563880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0.6176 → 0.5923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56154" y="591396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0006" y="35719"/>
                </a:moveTo>
                <a:cubicBezTo>
                  <a:pt x="50006" y="31776"/>
                  <a:pt x="53207" y="28575"/>
                  <a:pt x="57150" y="28575"/>
                </a:cubicBezTo>
                <a:cubicBezTo>
                  <a:pt x="61093" y="28575"/>
                  <a:pt x="64294" y="31776"/>
                  <a:pt x="64294" y="35719"/>
                </a:cubicBezTo>
                <a:cubicBezTo>
                  <a:pt x="64294" y="39661"/>
                  <a:pt x="61093" y="42863"/>
                  <a:pt x="57150" y="42863"/>
                </a:cubicBezTo>
                <a:cubicBezTo>
                  <a:pt x="53207" y="42863"/>
                  <a:pt x="50006" y="39661"/>
                  <a:pt x="50006" y="35719"/>
                </a:cubicBezTo>
                <a:close/>
                <a:moveTo>
                  <a:pt x="48220" y="50006"/>
                </a:moveTo>
                <a:lnTo>
                  <a:pt x="58936" y="50006"/>
                </a:lnTo>
                <a:cubicBezTo>
                  <a:pt x="61905" y="50006"/>
                  <a:pt x="64294" y="52395"/>
                  <a:pt x="64294" y="55364"/>
                </a:cubicBezTo>
                <a:lnTo>
                  <a:pt x="64294" y="75009"/>
                </a:lnTo>
                <a:lnTo>
                  <a:pt x="66080" y="75009"/>
                </a:lnTo>
                <a:cubicBezTo>
                  <a:pt x="69049" y="75009"/>
                  <a:pt x="71438" y="77398"/>
                  <a:pt x="71438" y="80367"/>
                </a:cubicBezTo>
                <a:cubicBezTo>
                  <a:pt x="71438" y="83336"/>
                  <a:pt x="69049" y="85725"/>
                  <a:pt x="66080" y="85725"/>
                </a:cubicBezTo>
                <a:lnTo>
                  <a:pt x="48220" y="85725"/>
                </a:lnTo>
                <a:cubicBezTo>
                  <a:pt x="45251" y="85725"/>
                  <a:pt x="42863" y="83336"/>
                  <a:pt x="42863" y="80367"/>
                </a:cubicBezTo>
                <a:cubicBezTo>
                  <a:pt x="42863" y="77398"/>
                  <a:pt x="45251" y="75009"/>
                  <a:pt x="48220" y="75009"/>
                </a:cubicBezTo>
                <a:lnTo>
                  <a:pt x="53578" y="75009"/>
                </a:lnTo>
                <a:lnTo>
                  <a:pt x="53578" y="60722"/>
                </a:lnTo>
                <a:lnTo>
                  <a:pt x="48220" y="60722"/>
                </a:lnTo>
                <a:cubicBezTo>
                  <a:pt x="45251" y="60722"/>
                  <a:pt x="42863" y="58333"/>
                  <a:pt x="42863" y="55364"/>
                </a:cubicBezTo>
                <a:cubicBezTo>
                  <a:pt x="42863" y="52395"/>
                  <a:pt x="45251" y="50006"/>
                  <a:pt x="48220" y="5000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713317" y="5905500"/>
            <a:ext cx="518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Early stopping correctly halted at epoch 10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15063" y="1152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8321" y="0"/>
                </a:moveTo>
                <a:lnTo>
                  <a:pt x="123330" y="0"/>
                </a:lnTo>
                <a:cubicBezTo>
                  <a:pt x="132204" y="0"/>
                  <a:pt x="139437" y="7300"/>
                  <a:pt x="139102" y="16140"/>
                </a:cubicBezTo>
                <a:cubicBezTo>
                  <a:pt x="139035" y="17915"/>
                  <a:pt x="138968" y="19690"/>
                  <a:pt x="138868" y="21431"/>
                </a:cubicBezTo>
                <a:lnTo>
                  <a:pt x="155477" y="21431"/>
                </a:lnTo>
                <a:cubicBezTo>
                  <a:pt x="164217" y="21431"/>
                  <a:pt x="171919" y="28664"/>
                  <a:pt x="171249" y="38107"/>
                </a:cubicBezTo>
                <a:cubicBezTo>
                  <a:pt x="168738" y="72833"/>
                  <a:pt x="150990" y="91920"/>
                  <a:pt x="131735" y="101899"/>
                </a:cubicBezTo>
                <a:cubicBezTo>
                  <a:pt x="126444" y="104645"/>
                  <a:pt x="121053" y="106687"/>
                  <a:pt x="115930" y="108194"/>
                </a:cubicBezTo>
                <a:cubicBezTo>
                  <a:pt x="109165" y="117771"/>
                  <a:pt x="102133" y="122828"/>
                  <a:pt x="96541" y="125540"/>
                </a:cubicBezTo>
                <a:lnTo>
                  <a:pt x="96541" y="150019"/>
                </a:lnTo>
                <a:lnTo>
                  <a:pt x="117972" y="150019"/>
                </a:lnTo>
                <a:cubicBezTo>
                  <a:pt x="123899" y="150019"/>
                  <a:pt x="128688" y="154807"/>
                  <a:pt x="128688" y="160734"/>
                </a:cubicBezTo>
                <a:cubicBezTo>
                  <a:pt x="128688" y="166661"/>
                  <a:pt x="123899" y="171450"/>
                  <a:pt x="117972" y="171450"/>
                </a:cubicBezTo>
                <a:lnTo>
                  <a:pt x="53679" y="171450"/>
                </a:lnTo>
                <a:cubicBezTo>
                  <a:pt x="47752" y="171450"/>
                  <a:pt x="42963" y="166661"/>
                  <a:pt x="42963" y="160734"/>
                </a:cubicBezTo>
                <a:cubicBezTo>
                  <a:pt x="42963" y="154807"/>
                  <a:pt x="47752" y="150019"/>
                  <a:pt x="53679" y="150019"/>
                </a:cubicBezTo>
                <a:lnTo>
                  <a:pt x="75110" y="150019"/>
                </a:lnTo>
                <a:lnTo>
                  <a:pt x="75110" y="125540"/>
                </a:lnTo>
                <a:cubicBezTo>
                  <a:pt x="69752" y="122962"/>
                  <a:pt x="63088" y="118173"/>
                  <a:pt x="56592" y="109366"/>
                </a:cubicBezTo>
                <a:cubicBezTo>
                  <a:pt x="50430" y="107759"/>
                  <a:pt x="43733" y="105315"/>
                  <a:pt x="37203" y="101631"/>
                </a:cubicBezTo>
                <a:cubicBezTo>
                  <a:pt x="19087" y="91485"/>
                  <a:pt x="2746" y="72364"/>
                  <a:pt x="402" y="38040"/>
                </a:cubicBezTo>
                <a:cubicBezTo>
                  <a:pt x="-234" y="28631"/>
                  <a:pt x="7434" y="21398"/>
                  <a:pt x="16174" y="21398"/>
                </a:cubicBezTo>
                <a:lnTo>
                  <a:pt x="32783" y="21398"/>
                </a:lnTo>
                <a:cubicBezTo>
                  <a:pt x="32683" y="19656"/>
                  <a:pt x="32616" y="17915"/>
                  <a:pt x="32549" y="16107"/>
                </a:cubicBezTo>
                <a:cubicBezTo>
                  <a:pt x="32214" y="7233"/>
                  <a:pt x="39447" y="-33"/>
                  <a:pt x="48321" y="-33"/>
                </a:cubicBezTo>
                <a:close/>
                <a:moveTo>
                  <a:pt x="33989" y="37505"/>
                </a:moveTo>
                <a:lnTo>
                  <a:pt x="16442" y="37505"/>
                </a:lnTo>
                <a:cubicBezTo>
                  <a:pt x="18518" y="65868"/>
                  <a:pt x="31544" y="80066"/>
                  <a:pt x="44972" y="87600"/>
                </a:cubicBezTo>
                <a:cubicBezTo>
                  <a:pt x="40150" y="75110"/>
                  <a:pt x="36165" y="58802"/>
                  <a:pt x="33989" y="37505"/>
                </a:cubicBezTo>
                <a:close/>
                <a:moveTo>
                  <a:pt x="127248" y="85993"/>
                </a:moveTo>
                <a:cubicBezTo>
                  <a:pt x="140810" y="78023"/>
                  <a:pt x="153066" y="63858"/>
                  <a:pt x="155142" y="37505"/>
                </a:cubicBezTo>
                <a:lnTo>
                  <a:pt x="137629" y="37505"/>
                </a:lnTo>
                <a:cubicBezTo>
                  <a:pt x="135553" y="57898"/>
                  <a:pt x="131802" y="73737"/>
                  <a:pt x="127248" y="8599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6410325" y="1104900"/>
            <a:ext cx="548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Test Results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1250" y="1447800"/>
          <a:ext cx="5619750" cy="1562100"/>
        </p:xfrm>
        <a:graphic>
          <a:graphicData uri="http://schemas.openxmlformats.org/drawingml/2006/table">
            <a:tbl>
              <a:tblPr/>
              <a:tblGrid>
                <a:gridCol w="2184928"/>
                <a:gridCol w="1774658"/>
                <a:gridCol w="1660164"/>
              </a:tblGrid>
              <a:tr h="314940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Metric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Stress (n=5,334)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Fatigue (n=33)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4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Balanced Accuracy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0.7145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0.9615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4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Macro F1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0.7003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0.9678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4940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ROC-AUC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0.8921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0.9885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2342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ECE (Calibration)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0.0537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0.0303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6191250" y="3090332"/>
            <a:ext cx="5619750" cy="419100"/>
          </a:xfrm>
          <a:prstGeom prst="roundRect">
            <a:avLst>
              <a:gd name="adj" fmla="val 18182"/>
            </a:avLst>
          </a:prstGeom>
          <a:solidFill>
            <a:srgbClr val="F9FAFB"/>
          </a:solidFill>
          <a:ln/>
        </p:spPr>
      </p:sp>
      <p:sp>
        <p:nvSpPr>
          <p:cNvPr id="28" name="Text 24"/>
          <p:cNvSpPr/>
          <p:nvPr/>
        </p:nvSpPr>
        <p:spPr>
          <a:xfrm>
            <a:off x="6272213" y="3204632"/>
            <a:ext cx="545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Mean: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Balanced Acc </a:t>
            </a:r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0.8380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· Macro-F1 </a:t>
            </a:r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0.8340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208183" y="3661832"/>
            <a:ext cx="5598583" cy="1028700"/>
          </a:xfrm>
          <a:custGeom>
            <a:avLst/>
            <a:gdLst/>
            <a:ahLst/>
            <a:cxnLst/>
            <a:rect l="l" t="t" r="r" b="b"/>
            <a:pathLst>
              <a:path w="5598583" h="1028700">
                <a:moveTo>
                  <a:pt x="0" y="0"/>
                </a:moveTo>
                <a:lnTo>
                  <a:pt x="5522341" y="0"/>
                </a:lnTo>
                <a:cubicBezTo>
                  <a:pt x="5564397" y="0"/>
                  <a:pt x="5598541" y="34144"/>
                  <a:pt x="5598541" y="76200"/>
                </a:cubicBezTo>
                <a:lnTo>
                  <a:pt x="5598541" y="952500"/>
                </a:lnTo>
                <a:cubicBezTo>
                  <a:pt x="5598541" y="994556"/>
                  <a:pt x="5564397" y="1028700"/>
                  <a:pt x="5522341" y="1028700"/>
                </a:cubicBez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6208183" y="3661832"/>
            <a:ext cx="33867" cy="10287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31" name="Shape 27"/>
          <p:cNvSpPr/>
          <p:nvPr/>
        </p:nvSpPr>
        <p:spPr>
          <a:xfrm>
            <a:off x="6396567" y="383963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28"/>
          <p:cNvSpPr/>
          <p:nvPr/>
        </p:nvSpPr>
        <p:spPr>
          <a:xfrm>
            <a:off x="6648847" y="3822702"/>
            <a:ext cx="907918" cy="194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Honest caveat: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377517" y="4107126"/>
            <a:ext cx="53435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Fatigue n=33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encouraging but not statistically robust.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 n=5,334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is the reliable number we stand behind.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419100"/>
            <a:ext cx="5295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Confusion Matrices &amp; Calibration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219200" cy="381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16719" y="11430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35719"/>
                </a:moveTo>
                <a:lnTo>
                  <a:pt x="142875" y="59531"/>
                </a:lnTo>
                <a:lnTo>
                  <a:pt x="119063" y="59531"/>
                </a:lnTo>
                <a:lnTo>
                  <a:pt x="119063" y="35719"/>
                </a:lnTo>
                <a:lnTo>
                  <a:pt x="142875" y="35719"/>
                </a:lnTo>
                <a:close/>
                <a:moveTo>
                  <a:pt x="142875" y="83344"/>
                </a:moveTo>
                <a:lnTo>
                  <a:pt x="142875" y="107156"/>
                </a:lnTo>
                <a:lnTo>
                  <a:pt x="119063" y="107156"/>
                </a:lnTo>
                <a:lnTo>
                  <a:pt x="119063" y="83344"/>
                </a:lnTo>
                <a:lnTo>
                  <a:pt x="142875" y="83344"/>
                </a:lnTo>
                <a:close/>
                <a:moveTo>
                  <a:pt x="142875" y="130969"/>
                </a:moveTo>
                <a:lnTo>
                  <a:pt x="142875" y="154781"/>
                </a:lnTo>
                <a:lnTo>
                  <a:pt x="119063" y="154781"/>
                </a:lnTo>
                <a:lnTo>
                  <a:pt x="119063" y="130969"/>
                </a:lnTo>
                <a:lnTo>
                  <a:pt x="142875" y="130969"/>
                </a:lnTo>
                <a:close/>
                <a:moveTo>
                  <a:pt x="95250" y="107156"/>
                </a:moveTo>
                <a:lnTo>
                  <a:pt x="71438" y="107156"/>
                </a:lnTo>
                <a:lnTo>
                  <a:pt x="71438" y="83344"/>
                </a:lnTo>
                <a:lnTo>
                  <a:pt x="95250" y="83344"/>
                </a:lnTo>
                <a:lnTo>
                  <a:pt x="95250" y="107156"/>
                </a:lnTo>
                <a:close/>
                <a:moveTo>
                  <a:pt x="71438" y="130969"/>
                </a:moveTo>
                <a:lnTo>
                  <a:pt x="95250" y="130969"/>
                </a:lnTo>
                <a:lnTo>
                  <a:pt x="95250" y="154781"/>
                </a:lnTo>
                <a:lnTo>
                  <a:pt x="71438" y="154781"/>
                </a:lnTo>
                <a:lnTo>
                  <a:pt x="71438" y="130969"/>
                </a:lnTo>
                <a:close/>
                <a:moveTo>
                  <a:pt x="47625" y="107156"/>
                </a:moveTo>
                <a:lnTo>
                  <a:pt x="23812" y="107156"/>
                </a:lnTo>
                <a:lnTo>
                  <a:pt x="23812" y="83344"/>
                </a:lnTo>
                <a:lnTo>
                  <a:pt x="47625" y="83344"/>
                </a:lnTo>
                <a:lnTo>
                  <a:pt x="47625" y="107156"/>
                </a:lnTo>
                <a:close/>
                <a:moveTo>
                  <a:pt x="23812" y="130969"/>
                </a:moveTo>
                <a:lnTo>
                  <a:pt x="47625" y="130969"/>
                </a:lnTo>
                <a:lnTo>
                  <a:pt x="47625" y="154781"/>
                </a:lnTo>
                <a:lnTo>
                  <a:pt x="23812" y="154781"/>
                </a:lnTo>
                <a:lnTo>
                  <a:pt x="23812" y="130969"/>
                </a:lnTo>
                <a:close/>
                <a:moveTo>
                  <a:pt x="23812" y="59531"/>
                </a:moveTo>
                <a:lnTo>
                  <a:pt x="23812" y="35719"/>
                </a:lnTo>
                <a:lnTo>
                  <a:pt x="47625" y="35719"/>
                </a:lnTo>
                <a:lnTo>
                  <a:pt x="47625" y="59531"/>
                </a:lnTo>
                <a:lnTo>
                  <a:pt x="23812" y="59531"/>
                </a:lnTo>
                <a:close/>
                <a:moveTo>
                  <a:pt x="71438" y="59531"/>
                </a:moveTo>
                <a:lnTo>
                  <a:pt x="71438" y="35719"/>
                </a:lnTo>
                <a:lnTo>
                  <a:pt x="95250" y="35719"/>
                </a:lnTo>
                <a:lnTo>
                  <a:pt x="95250" y="59531"/>
                </a:lnTo>
                <a:lnTo>
                  <a:pt x="71438" y="59531"/>
                </a:lnTo>
                <a:close/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19125" y="1104900"/>
            <a:ext cx="547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 Confusion Matrix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5233" y="1490133"/>
            <a:ext cx="5609167" cy="1951567"/>
          </a:xfrm>
          <a:prstGeom prst="roundRect">
            <a:avLst>
              <a:gd name="adj" fmla="val 3905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1867" y="1646769"/>
          <a:ext cx="5295900" cy="1409700"/>
        </p:xfrm>
        <a:graphic>
          <a:graphicData uri="http://schemas.openxmlformats.org/drawingml/2006/table">
            <a:tbl>
              <a:tblPr/>
              <a:tblGrid>
                <a:gridCol w="1381125"/>
                <a:gridCol w="1276350"/>
                <a:gridCol w="1304925"/>
                <a:gridCol w="1333500"/>
              </a:tblGrid>
              <a:tr h="355600">
                <a:tc>
                  <a:txBody>
                    <a:bodyPr/>
                    <a:lstStyle/>
                    <a:p>
                      <a:pPr algn="ctr"/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Pred 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Pred Mod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Pred 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True 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82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True Mod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82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E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True 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22578" cap="flat" cmpd="sng" algn="ctr">
                      <a:solidFill>
                        <a:srgbClr val="8B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6B72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0823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839516" y="31369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50006" y="35719"/>
                </a:moveTo>
                <a:cubicBezTo>
                  <a:pt x="50006" y="31776"/>
                  <a:pt x="53207" y="28575"/>
                  <a:pt x="57150" y="28575"/>
                </a:cubicBezTo>
                <a:cubicBezTo>
                  <a:pt x="61093" y="28575"/>
                  <a:pt x="64294" y="31776"/>
                  <a:pt x="64294" y="35719"/>
                </a:cubicBezTo>
                <a:cubicBezTo>
                  <a:pt x="64294" y="39661"/>
                  <a:pt x="61093" y="42863"/>
                  <a:pt x="57150" y="42863"/>
                </a:cubicBezTo>
                <a:cubicBezTo>
                  <a:pt x="53207" y="42863"/>
                  <a:pt x="50006" y="39661"/>
                  <a:pt x="50006" y="35719"/>
                </a:cubicBezTo>
                <a:close/>
                <a:moveTo>
                  <a:pt x="48220" y="50006"/>
                </a:moveTo>
                <a:lnTo>
                  <a:pt x="58936" y="50006"/>
                </a:lnTo>
                <a:cubicBezTo>
                  <a:pt x="61905" y="50006"/>
                  <a:pt x="64294" y="52395"/>
                  <a:pt x="64294" y="55364"/>
                </a:cubicBezTo>
                <a:lnTo>
                  <a:pt x="64294" y="75009"/>
                </a:lnTo>
                <a:lnTo>
                  <a:pt x="66080" y="75009"/>
                </a:lnTo>
                <a:cubicBezTo>
                  <a:pt x="69049" y="75009"/>
                  <a:pt x="71438" y="77398"/>
                  <a:pt x="71438" y="80367"/>
                </a:cubicBezTo>
                <a:cubicBezTo>
                  <a:pt x="71438" y="83336"/>
                  <a:pt x="69049" y="85725"/>
                  <a:pt x="66080" y="85725"/>
                </a:cubicBezTo>
                <a:lnTo>
                  <a:pt x="48220" y="85725"/>
                </a:lnTo>
                <a:cubicBezTo>
                  <a:pt x="45251" y="85725"/>
                  <a:pt x="42863" y="83336"/>
                  <a:pt x="42863" y="80367"/>
                </a:cubicBezTo>
                <a:cubicBezTo>
                  <a:pt x="42863" y="77398"/>
                  <a:pt x="45251" y="75009"/>
                  <a:pt x="48220" y="75009"/>
                </a:cubicBezTo>
                <a:lnTo>
                  <a:pt x="53578" y="75009"/>
                </a:lnTo>
                <a:lnTo>
                  <a:pt x="53578" y="60722"/>
                </a:lnTo>
                <a:lnTo>
                  <a:pt x="48220" y="60722"/>
                </a:lnTo>
                <a:cubicBezTo>
                  <a:pt x="45251" y="60722"/>
                  <a:pt x="42863" y="58333"/>
                  <a:pt x="42863" y="55364"/>
                </a:cubicBezTo>
                <a:cubicBezTo>
                  <a:pt x="42863" y="52395"/>
                  <a:pt x="45251" y="50006"/>
                  <a:pt x="48220" y="5000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8"/>
          <p:cNvSpPr/>
          <p:nvPr/>
        </p:nvSpPr>
        <p:spPr>
          <a:xfrm>
            <a:off x="684742" y="3128432"/>
            <a:ext cx="5181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Values normalized — diagonal = correct predictions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97933" y="3593967"/>
            <a:ext cx="5598583" cy="1047750"/>
          </a:xfrm>
          <a:custGeom>
            <a:avLst/>
            <a:gdLst/>
            <a:ahLst/>
            <a:cxnLst/>
            <a:rect l="l" t="t" r="r" b="b"/>
            <a:pathLst>
              <a:path w="5598583" h="1047750">
                <a:moveTo>
                  <a:pt x="0" y="0"/>
                </a:moveTo>
                <a:lnTo>
                  <a:pt x="5522341" y="0"/>
                </a:lnTo>
                <a:cubicBezTo>
                  <a:pt x="5564397" y="0"/>
                  <a:pt x="5598541" y="34144"/>
                  <a:pt x="5598541" y="76200"/>
                </a:cubicBezTo>
                <a:lnTo>
                  <a:pt x="5598541" y="971550"/>
                </a:lnTo>
                <a:cubicBezTo>
                  <a:pt x="5598541" y="1013606"/>
                  <a:pt x="5564397" y="1047750"/>
                  <a:pt x="5522341" y="1047750"/>
                </a:cubicBezTo>
                <a:lnTo>
                  <a:pt x="0" y="1047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97933" y="3593967"/>
            <a:ext cx="33867" cy="104775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567267" y="3746367"/>
            <a:ext cx="5353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insight: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Off-diagonal mass concentrated at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adjacent classes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(low↔moderate, moderate↔high). Almost no low↔high confusion — this is the benign failure mode for an ordinal 3-class problem.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91250" y="11430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6429375" y="1104900"/>
            <a:ext cx="547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Calibration Analysis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95483" y="1490133"/>
            <a:ext cx="5609167" cy="1684867"/>
          </a:xfrm>
          <a:prstGeom prst="roundRect">
            <a:avLst>
              <a:gd name="adj" fmla="val 4523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2117" y="1703919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Expected Calibration Error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919354" y="1646769"/>
            <a:ext cx="876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0.0537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352117" y="2103969"/>
            <a:ext cx="5295900" cy="762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1" name="Shape 18"/>
          <p:cNvSpPr/>
          <p:nvPr/>
        </p:nvSpPr>
        <p:spPr>
          <a:xfrm>
            <a:off x="6352117" y="2103969"/>
            <a:ext cx="5010150" cy="7620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05DF72"/>
              </a:gs>
              <a:gs pos="100000">
                <a:srgbClr val="00C950"/>
              </a:gs>
            </a:gsLst>
            <a:lin ang="0" scaled="1"/>
          </a:gradFill>
          <a:ln/>
        </p:spPr>
      </p:sp>
      <p:sp>
        <p:nvSpPr>
          <p:cNvPr id="22" name="Shape 19"/>
          <p:cNvSpPr/>
          <p:nvPr/>
        </p:nvSpPr>
        <p:spPr>
          <a:xfrm>
            <a:off x="6371167" y="232304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3" name="Text 20"/>
          <p:cNvSpPr/>
          <p:nvPr/>
        </p:nvSpPr>
        <p:spPr>
          <a:xfrm>
            <a:off x="6595004" y="2294469"/>
            <a:ext cx="2600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Well-calibrated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without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temperature scaling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71167" y="258974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25" name="Text 22"/>
          <p:cNvSpPr/>
          <p:nvPr/>
        </p:nvSpPr>
        <p:spPr>
          <a:xfrm>
            <a:off x="6595004" y="2561169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Reliability diagram tracks diagonal closely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371167" y="285644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27" name="Text 24"/>
          <p:cNvSpPr/>
          <p:nvPr/>
        </p:nvSpPr>
        <p:spPr>
          <a:xfrm>
            <a:off x="6595004" y="2827869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Mild over-confidence at very-high confidence bins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195483" y="3335867"/>
            <a:ext cx="5609167" cy="1265767"/>
          </a:xfrm>
          <a:prstGeom prst="roundRect">
            <a:avLst>
              <a:gd name="adj" fmla="val 6020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71167" y="353059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52388"/>
                </a:moveTo>
                <a:cubicBezTo>
                  <a:pt x="70931" y="52388"/>
                  <a:pt x="66675" y="56644"/>
                  <a:pt x="66675" y="61912"/>
                </a:cubicBezTo>
                <a:cubicBezTo>
                  <a:pt x="66675" y="65871"/>
                  <a:pt x="63490" y="69056"/>
                  <a:pt x="59531" y="69056"/>
                </a:cubicBezTo>
                <a:cubicBezTo>
                  <a:pt x="55572" y="69056"/>
                  <a:pt x="52388" y="65871"/>
                  <a:pt x="52388" y="61912"/>
                </a:cubicBezTo>
                <a:cubicBezTo>
                  <a:pt x="52388" y="48756"/>
                  <a:pt x="63044" y="38100"/>
                  <a:pt x="76200" y="38100"/>
                </a:cubicBezTo>
                <a:cubicBezTo>
                  <a:pt x="89356" y="38100"/>
                  <a:pt x="100013" y="48756"/>
                  <a:pt x="100013" y="61912"/>
                </a:cubicBezTo>
                <a:cubicBezTo>
                  <a:pt x="100013" y="75962"/>
                  <a:pt x="89297" y="81915"/>
                  <a:pt x="83344" y="84088"/>
                </a:cubicBezTo>
                <a:lnTo>
                  <a:pt x="83344" y="85219"/>
                </a:lnTo>
                <a:cubicBezTo>
                  <a:pt x="83344" y="89178"/>
                  <a:pt x="80159" y="92363"/>
                  <a:pt x="76200" y="92363"/>
                </a:cubicBezTo>
                <a:cubicBezTo>
                  <a:pt x="72241" y="92363"/>
                  <a:pt x="69056" y="89178"/>
                  <a:pt x="69056" y="85219"/>
                </a:cubicBezTo>
                <a:lnTo>
                  <a:pt x="69056" y="82808"/>
                </a:lnTo>
                <a:cubicBezTo>
                  <a:pt x="69056" y="76706"/>
                  <a:pt x="73462" y="72330"/>
                  <a:pt x="78016" y="70842"/>
                </a:cubicBezTo>
                <a:cubicBezTo>
                  <a:pt x="79921" y="70217"/>
                  <a:pt x="81945" y="69205"/>
                  <a:pt x="83433" y="67776"/>
                </a:cubicBezTo>
                <a:cubicBezTo>
                  <a:pt x="84713" y="66526"/>
                  <a:pt x="85725" y="64800"/>
                  <a:pt x="85725" y="61942"/>
                </a:cubicBezTo>
                <a:cubicBezTo>
                  <a:pt x="85725" y="56674"/>
                  <a:pt x="81469" y="52417"/>
                  <a:pt x="76200" y="52417"/>
                </a:cubicBezTo>
                <a:close/>
                <a:moveTo>
                  <a:pt x="66675" y="109537"/>
                </a:moveTo>
                <a:cubicBezTo>
                  <a:pt x="66675" y="104281"/>
                  <a:pt x="70943" y="100013"/>
                  <a:pt x="76200" y="100013"/>
                </a:cubicBezTo>
                <a:cubicBezTo>
                  <a:pt x="81457" y="100013"/>
                  <a:pt x="85725" y="104281"/>
                  <a:pt x="85725" y="109537"/>
                </a:cubicBezTo>
                <a:cubicBezTo>
                  <a:pt x="85725" y="114794"/>
                  <a:pt x="81457" y="119062"/>
                  <a:pt x="76200" y="119062"/>
                </a:cubicBezTo>
                <a:cubicBezTo>
                  <a:pt x="70943" y="119062"/>
                  <a:pt x="66675" y="114794"/>
                  <a:pt x="66675" y="10953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Text 27"/>
          <p:cNvSpPr/>
          <p:nvPr/>
        </p:nvSpPr>
        <p:spPr>
          <a:xfrm>
            <a:off x="6542617" y="3492498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Calibration Matters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52117" y="3797298"/>
            <a:ext cx="53625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For a wellness tool,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"we're 90% sure" should correspond to being right 90% of the time.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ECE measures that directly. The live demo surfaces confidence values directly to users — calibration ensures these are meaningful.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3438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MLOps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219200" cy="381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85233" y="1109133"/>
            <a:ext cx="11419417" cy="2637367"/>
          </a:xfrm>
          <a:prstGeom prst="roundRect">
            <a:avLst>
              <a:gd name="adj" fmla="val 2889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0442" y="1341969"/>
            <a:ext cx="1104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Deployment Pipeline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12308" y="1837269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317096" y="2027769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79967" y="2561169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Kaggle GPU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4729" y="2827869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Training Notebook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31004" y="22182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368550" y="2484969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Best CKPT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8700" y="1837269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4912" y="202776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036358" y="2561169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HF Hub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41121" y="2827869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Registry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53649" y="22182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870847" y="2484969"/>
            <a:ext cx="247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Pull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57465" y="1837269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8B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965" y="20277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225124" y="2561169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GitHub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29887" y="2827869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Source of Truth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56318" y="22182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7013707" y="2484969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Push main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74302" y="1837269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8B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364802" y="20277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641960" y="2561169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46723" y="2827869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 Deploy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12697" y="22182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9430676" y="2484969"/>
            <a:ext cx="447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Rebuild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469960" y="1837269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8B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60460" y="20277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937618" y="2561169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HF Space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42380" y="2827869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Live Gradio App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0070" y="3170769"/>
            <a:ext cx="3028950" cy="3429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51520" y="32660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4999170" y="3246969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TensorBoard Logs → Centralized Tracking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97933" y="3941234"/>
            <a:ext cx="5598583" cy="1905000"/>
          </a:xfrm>
          <a:custGeom>
            <a:avLst/>
            <a:gdLst/>
            <a:ahLst/>
            <a:cxnLst/>
            <a:rect l="l" t="t" r="r" b="b"/>
            <a:pathLst>
              <a:path w="5598583" h="1905000">
                <a:moveTo>
                  <a:pt x="33909" y="0"/>
                </a:moveTo>
                <a:lnTo>
                  <a:pt x="5522341" y="0"/>
                </a:lnTo>
                <a:cubicBezTo>
                  <a:pt x="5564397" y="0"/>
                  <a:pt x="5598541" y="34144"/>
                  <a:pt x="5598541" y="76200"/>
                </a:cubicBezTo>
                <a:lnTo>
                  <a:pt x="5598541" y="1828800"/>
                </a:lnTo>
                <a:cubicBezTo>
                  <a:pt x="5598541" y="1870856"/>
                  <a:pt x="5564397" y="1905000"/>
                  <a:pt x="5522341" y="1905000"/>
                </a:cubicBezTo>
                <a:lnTo>
                  <a:pt x="33909" y="1905000"/>
                </a:lnTo>
                <a:cubicBezTo>
                  <a:pt x="15182" y="1905000"/>
                  <a:pt x="0" y="1889818"/>
                  <a:pt x="0" y="1871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0" name="Shape 38"/>
          <p:cNvSpPr/>
          <p:nvPr/>
        </p:nvSpPr>
        <p:spPr>
          <a:xfrm>
            <a:off x="397933" y="3941234"/>
            <a:ext cx="33867" cy="1905000"/>
          </a:xfrm>
          <a:custGeom>
            <a:avLst/>
            <a:gdLst/>
            <a:ahLst/>
            <a:cxnLst/>
            <a:rect l="l" t="t" r="r" b="b"/>
            <a:pathLst>
              <a:path w="33867" h="1905000">
                <a:moveTo>
                  <a:pt x="33909" y="0"/>
                </a:moveTo>
                <a:lnTo>
                  <a:pt x="33909" y="0"/>
                </a:lnTo>
                <a:lnTo>
                  <a:pt x="33909" y="1905000"/>
                </a:lnTo>
                <a:lnTo>
                  <a:pt x="33909" y="1905000"/>
                </a:lnTo>
                <a:cubicBezTo>
                  <a:pt x="15182" y="1905000"/>
                  <a:pt x="0" y="1889818"/>
                  <a:pt x="0" y="1871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629179" y="417935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824442" y="4131734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MLOps Maturity: Level 2–3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3942" y="45508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Text 42"/>
          <p:cNvSpPr/>
          <p:nvPr/>
        </p:nvSpPr>
        <p:spPr>
          <a:xfrm>
            <a:off x="872067" y="4512734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Centralized tracking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TensorBoard logs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942" y="48556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872067" y="4817534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registry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HF Hub versioned models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3942" y="51604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872067" y="5122334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Automated deployment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GitHub Actions CI/CD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3942" y="5465234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872067" y="5427134"/>
            <a:ext cx="3009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Fully reproducible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— seed 42, versioned deps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08183" y="3941234"/>
            <a:ext cx="5598583" cy="1905000"/>
          </a:xfrm>
          <a:custGeom>
            <a:avLst/>
            <a:gdLst/>
            <a:ahLst/>
            <a:cxnLst/>
            <a:rect l="l" t="t" r="r" b="b"/>
            <a:pathLst>
              <a:path w="5598583" h="1905000">
                <a:moveTo>
                  <a:pt x="0" y="0"/>
                </a:moveTo>
                <a:lnTo>
                  <a:pt x="5522341" y="0"/>
                </a:lnTo>
                <a:cubicBezTo>
                  <a:pt x="5564397" y="0"/>
                  <a:pt x="5598541" y="34144"/>
                  <a:pt x="5598541" y="76200"/>
                </a:cubicBezTo>
                <a:lnTo>
                  <a:pt x="5598541" y="1828800"/>
                </a:lnTo>
                <a:cubicBezTo>
                  <a:pt x="5598541" y="1870856"/>
                  <a:pt x="5564397" y="1905000"/>
                  <a:pt x="5522341" y="1905000"/>
                </a:cubicBez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08183" y="3941234"/>
            <a:ext cx="33867" cy="19050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6434667" y="442383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663267" y="4398434"/>
            <a:ext cx="502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Reproducibility: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Every result is reproducible by a third party with two API tokens.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15617" y="5008034"/>
            <a:ext cx="5267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training notebook runs on free Kaggle GPUs; deployment is one git push. No proprietary infrastructure required.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2390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219200" cy="381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85233" y="1147233"/>
            <a:ext cx="6761692" cy="3313642"/>
          </a:xfrm>
          <a:prstGeom prst="roundRect">
            <a:avLst>
              <a:gd name="adj" fmla="val 2300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542" y="14372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980017" y="1341969"/>
            <a:ext cx="366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Deployed Application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0017" y="1532469"/>
            <a:ext cx="3676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huggingface.co/spaces/NMemane1/facial-stress-fatigue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" y="1917703"/>
            <a:ext cx="6361642" cy="2342092"/>
          </a:xfrm>
          <a:prstGeom prst="roundRect">
            <a:avLst>
              <a:gd name="adj" fmla="val 3254"/>
            </a:avLst>
          </a:prstGeom>
          <a:solidFill>
            <a:srgbClr val="FFFFFF"/>
          </a:solidFill>
          <a:ln w="11289">
            <a:solidFill>
              <a:srgbClr val="D1D5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833" y="2345267"/>
            <a:ext cx="6048375" cy="8467"/>
          </a:xfrm>
          <a:prstGeom prst="roundRect">
            <a:avLst>
              <a:gd name="adj" fmla="val 0"/>
            </a:avLst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833" y="2112434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6467"/>
          </a:solidFill>
          <a:ln/>
        </p:spPr>
      </p:sp>
      <p:sp>
        <p:nvSpPr>
          <p:cNvPr id="13" name="Shape 11"/>
          <p:cNvSpPr/>
          <p:nvPr/>
        </p:nvSpPr>
        <p:spPr>
          <a:xfrm>
            <a:off x="912283" y="2112434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DC7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3733" y="2112434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5DF72"/>
          </a:solidFill>
          <a:ln/>
        </p:spPr>
      </p:sp>
      <p:sp>
        <p:nvSpPr>
          <p:cNvPr id="15" name="Text 13"/>
          <p:cNvSpPr/>
          <p:nvPr/>
        </p:nvSpPr>
        <p:spPr>
          <a:xfrm>
            <a:off x="1350433" y="2074334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Gradio Interface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833" y="2463798"/>
            <a:ext cx="914400" cy="914400"/>
          </a:xfrm>
          <a:prstGeom prst="roundRect">
            <a:avLst>
              <a:gd name="adj" fmla="val 8333"/>
            </a:avLst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6583" y="2749548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67221" y="257309"/>
                </a:moveTo>
                <a:cubicBezTo>
                  <a:pt x="252420" y="231591"/>
                  <a:pt x="224626" y="214313"/>
                  <a:pt x="192881" y="214313"/>
                </a:cubicBezTo>
                <a:lnTo>
                  <a:pt x="150019" y="214313"/>
                </a:lnTo>
                <a:cubicBezTo>
                  <a:pt x="118274" y="214313"/>
                  <a:pt x="90480" y="231591"/>
                  <a:pt x="75679" y="257309"/>
                </a:cubicBezTo>
                <a:cubicBezTo>
                  <a:pt x="99253" y="283562"/>
                  <a:pt x="133410" y="300038"/>
                  <a:pt x="171450" y="300038"/>
                </a:cubicBezTo>
                <a:cubicBezTo>
                  <a:pt x="209490" y="300038"/>
                  <a:pt x="243647" y="283495"/>
                  <a:pt x="267221" y="257309"/>
                </a:cubicBezTo>
                <a:close/>
                <a:moveTo>
                  <a:pt x="0" y="171450"/>
                </a:moveTo>
                <a:cubicBezTo>
                  <a:pt x="0" y="76824"/>
                  <a:pt x="76824" y="0"/>
                  <a:pt x="171450" y="0"/>
                </a:cubicBez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lose/>
                <a:moveTo>
                  <a:pt x="171450" y="182166"/>
                </a:moveTo>
                <a:cubicBezTo>
                  <a:pt x="198064" y="182166"/>
                  <a:pt x="219670" y="160559"/>
                  <a:pt x="219670" y="133945"/>
                </a:cubicBezTo>
                <a:cubicBezTo>
                  <a:pt x="219670" y="107332"/>
                  <a:pt x="198064" y="85725"/>
                  <a:pt x="171450" y="85725"/>
                </a:cubicBezTo>
                <a:cubicBezTo>
                  <a:pt x="144836" y="85725"/>
                  <a:pt x="123230" y="107332"/>
                  <a:pt x="123230" y="133945"/>
                </a:cubicBezTo>
                <a:cubicBezTo>
                  <a:pt x="123230" y="160559"/>
                  <a:pt x="144836" y="182166"/>
                  <a:pt x="171450" y="182166"/>
                </a:cubicBez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18" name="Text 16"/>
          <p:cNvSpPr/>
          <p:nvPr/>
        </p:nvSpPr>
        <p:spPr>
          <a:xfrm>
            <a:off x="1769533" y="2568708"/>
            <a:ext cx="508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Prediction Results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69533" y="2854458"/>
            <a:ext cx="352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35795" y="2835408"/>
            <a:ext cx="847725" cy="190500"/>
          </a:xfrm>
          <a:prstGeom prst="roundRect">
            <a:avLst>
              <a:gd name="adj" fmla="val 20000"/>
            </a:avLst>
          </a:prstGeom>
          <a:solidFill>
            <a:srgbClr val="FEF9C2"/>
          </a:solidFill>
          <a:ln/>
        </p:spPr>
      </p:sp>
      <p:sp>
        <p:nvSpPr>
          <p:cNvPr id="21" name="Text 19"/>
          <p:cNvSpPr/>
          <p:nvPr/>
        </p:nvSpPr>
        <p:spPr>
          <a:xfrm>
            <a:off x="5935795" y="2835408"/>
            <a:ext cx="9048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D087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Moderate 66%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69533" y="3101973"/>
            <a:ext cx="419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Fatigue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50107" y="3082923"/>
            <a:ext cx="638175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</p:sp>
      <p:sp>
        <p:nvSpPr>
          <p:cNvPr id="24" name="Text 22"/>
          <p:cNvSpPr/>
          <p:nvPr/>
        </p:nvSpPr>
        <p:spPr>
          <a:xfrm>
            <a:off x="6150107" y="3082923"/>
            <a:ext cx="6953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A63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Alert 89%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7767" y="3492498"/>
            <a:ext cx="6027208" cy="609600"/>
          </a:xfrm>
          <a:custGeom>
            <a:avLst/>
            <a:gdLst/>
            <a:ahLst/>
            <a:cxnLst/>
            <a:rect l="l" t="t" r="r" b="b"/>
            <a:pathLst>
              <a:path w="6027208" h="609600">
                <a:moveTo>
                  <a:pt x="33909" y="0"/>
                </a:moveTo>
                <a:lnTo>
                  <a:pt x="5950966" y="0"/>
                </a:lnTo>
                <a:cubicBezTo>
                  <a:pt x="5993022" y="0"/>
                  <a:pt x="6027166" y="34144"/>
                  <a:pt x="6027166" y="76200"/>
                </a:cubicBezTo>
                <a:lnTo>
                  <a:pt x="6027166" y="533400"/>
                </a:lnTo>
                <a:cubicBezTo>
                  <a:pt x="6027166" y="575456"/>
                  <a:pt x="5993022" y="609600"/>
                  <a:pt x="5950966" y="609600"/>
                </a:cubicBezTo>
                <a:lnTo>
                  <a:pt x="33909" y="609600"/>
                </a:lnTo>
                <a:cubicBezTo>
                  <a:pt x="15182" y="609600"/>
                  <a:pt x="0" y="594418"/>
                  <a:pt x="0" y="5756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57767" y="3492498"/>
            <a:ext cx="33867" cy="609600"/>
          </a:xfrm>
          <a:custGeom>
            <a:avLst/>
            <a:gdLst/>
            <a:ahLst/>
            <a:cxnLst/>
            <a:rect l="l" t="t" r="r" b="b"/>
            <a:pathLst>
              <a:path w="33867" h="609600">
                <a:moveTo>
                  <a:pt x="33909" y="0"/>
                </a:moveTo>
                <a:lnTo>
                  <a:pt x="33909" y="0"/>
                </a:lnTo>
                <a:lnTo>
                  <a:pt x="33909" y="609600"/>
                </a:lnTo>
                <a:lnTo>
                  <a:pt x="33909" y="609600"/>
                </a:lnTo>
                <a:cubicBezTo>
                  <a:pt x="15182" y="609600"/>
                  <a:pt x="0" y="594418"/>
                  <a:pt x="0" y="5756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51A2FF"/>
          </a:solidFill>
          <a:ln/>
        </p:spPr>
      </p:sp>
      <p:sp>
        <p:nvSpPr>
          <p:cNvPr id="27" name="Text 25"/>
          <p:cNvSpPr/>
          <p:nvPr/>
        </p:nvSpPr>
        <p:spPr>
          <a:xfrm>
            <a:off x="889000" y="3606798"/>
            <a:ext cx="5838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Wellness Suggestion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9000" y="3797168"/>
            <a:ext cx="584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"Consider taking a 5-minute walk and practicing deep breathing to reduce tension."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97933" y="4652302"/>
            <a:ext cx="6751108" cy="762000"/>
          </a:xfrm>
          <a:custGeom>
            <a:avLst/>
            <a:gdLst/>
            <a:ahLst/>
            <a:cxnLst/>
            <a:rect l="l" t="t" r="r" b="b"/>
            <a:pathLst>
              <a:path w="6751108" h="762000">
                <a:moveTo>
                  <a:pt x="0" y="0"/>
                </a:moveTo>
                <a:lnTo>
                  <a:pt x="6674866" y="0"/>
                </a:lnTo>
                <a:cubicBezTo>
                  <a:pt x="6716922" y="0"/>
                  <a:pt x="6751066" y="34144"/>
                  <a:pt x="6751066" y="76200"/>
                </a:cubicBezTo>
                <a:lnTo>
                  <a:pt x="6751066" y="685800"/>
                </a:lnTo>
                <a:cubicBezTo>
                  <a:pt x="6751066" y="727856"/>
                  <a:pt x="6716922" y="762000"/>
                  <a:pt x="6674866" y="762000"/>
                </a:cubicBez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7933" y="4652302"/>
            <a:ext cx="33867" cy="7620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595842" y="482163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38100" y="33338"/>
                </a:moveTo>
                <a:cubicBezTo>
                  <a:pt x="45985" y="33338"/>
                  <a:pt x="52388" y="39740"/>
                  <a:pt x="52388" y="47625"/>
                </a:cubicBezTo>
                <a:cubicBezTo>
                  <a:pt x="52388" y="55510"/>
                  <a:pt x="45985" y="61912"/>
                  <a:pt x="38100" y="61912"/>
                </a:cubicBezTo>
                <a:cubicBezTo>
                  <a:pt x="30215" y="61912"/>
                  <a:pt x="23813" y="55510"/>
                  <a:pt x="23813" y="47625"/>
                </a:cubicBezTo>
                <a:cubicBezTo>
                  <a:pt x="23813" y="39740"/>
                  <a:pt x="30215" y="33338"/>
                  <a:pt x="38100" y="33338"/>
                </a:cubicBezTo>
                <a:close/>
                <a:moveTo>
                  <a:pt x="80962" y="66675"/>
                </a:moveTo>
                <a:cubicBezTo>
                  <a:pt x="83463" y="66675"/>
                  <a:pt x="85755" y="67985"/>
                  <a:pt x="87064" y="70098"/>
                </a:cubicBezTo>
                <a:lnTo>
                  <a:pt x="113258" y="112961"/>
                </a:lnTo>
                <a:cubicBezTo>
                  <a:pt x="114598" y="115163"/>
                  <a:pt x="114657" y="117931"/>
                  <a:pt x="113407" y="120194"/>
                </a:cubicBezTo>
                <a:cubicBezTo>
                  <a:pt x="112157" y="122456"/>
                  <a:pt x="109746" y="123825"/>
                  <a:pt x="107156" y="123825"/>
                </a:cubicBezTo>
                <a:lnTo>
                  <a:pt x="26194" y="123825"/>
                </a:lnTo>
                <a:cubicBezTo>
                  <a:pt x="23545" y="123825"/>
                  <a:pt x="21074" y="122337"/>
                  <a:pt x="19854" y="119985"/>
                </a:cubicBezTo>
                <a:cubicBezTo>
                  <a:pt x="18633" y="117634"/>
                  <a:pt x="18812" y="114776"/>
                  <a:pt x="20330" y="112603"/>
                </a:cubicBezTo>
                <a:lnTo>
                  <a:pt x="36999" y="88791"/>
                </a:lnTo>
                <a:cubicBezTo>
                  <a:pt x="38338" y="86886"/>
                  <a:pt x="40511" y="85755"/>
                  <a:pt x="42863" y="85755"/>
                </a:cubicBezTo>
                <a:cubicBezTo>
                  <a:pt x="45214" y="85755"/>
                  <a:pt x="47387" y="86886"/>
                  <a:pt x="48726" y="88791"/>
                </a:cubicBezTo>
                <a:lnTo>
                  <a:pt x="56584" y="100042"/>
                </a:lnTo>
                <a:lnTo>
                  <a:pt x="74861" y="70128"/>
                </a:lnTo>
                <a:cubicBezTo>
                  <a:pt x="76170" y="68014"/>
                  <a:pt x="78462" y="66705"/>
                  <a:pt x="80962" y="6670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814917" y="4804702"/>
            <a:ext cx="6257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Screenshot from real user-uploaded face.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Stress prediction "moderate" matches visible tension cues; LLM-generated wellness sentence is task-appropriate without medical claims.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80288" y="1147233"/>
            <a:ext cx="4428067" cy="2827867"/>
          </a:xfrm>
          <a:prstGeom prst="roundRect">
            <a:avLst>
              <a:gd name="adj" fmla="val 2695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6927" y="138006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7813146" y="1341969"/>
            <a:ext cx="389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75021" y="176106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689321" y="18753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4381" y="19288"/>
                </a:moveTo>
                <a:lnTo>
                  <a:pt x="41285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11115" y="28575"/>
                </a:lnTo>
                <a:lnTo>
                  <a:pt x="108019" y="19288"/>
                </a:lnTo>
                <a:cubicBezTo>
                  <a:pt x="106085" y="13454"/>
                  <a:pt x="100638" y="9525"/>
                  <a:pt x="94476" y="9525"/>
                </a:cubicBezTo>
                <a:lnTo>
                  <a:pt x="57924" y="9525"/>
                </a:lnTo>
                <a:cubicBezTo>
                  <a:pt x="51762" y="9525"/>
                  <a:pt x="46315" y="13454"/>
                  <a:pt x="44381" y="19288"/>
                </a:cubicBezTo>
                <a:close/>
                <a:moveTo>
                  <a:pt x="76200" y="57150"/>
                </a:moveTo>
                <a:cubicBezTo>
                  <a:pt x="91971" y="57150"/>
                  <a:pt x="104775" y="69954"/>
                  <a:pt x="104775" y="85725"/>
                </a:cubicBezTo>
                <a:cubicBezTo>
                  <a:pt x="104775" y="101496"/>
                  <a:pt x="91971" y="114300"/>
                  <a:pt x="76200" y="114300"/>
                </a:cubicBezTo>
                <a:cubicBezTo>
                  <a:pt x="60429" y="114300"/>
                  <a:pt x="47625" y="101496"/>
                  <a:pt x="47625" y="85725"/>
                </a:cubicBezTo>
                <a:cubicBezTo>
                  <a:pt x="47625" y="69954"/>
                  <a:pt x="60429" y="57150"/>
                  <a:pt x="76200" y="571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8070321" y="1761069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Upload or Webcam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70321" y="1989669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Flexible image capture options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75021" y="229446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79796" y="240876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2519" y="71438"/>
                </a:moveTo>
                <a:lnTo>
                  <a:pt x="100132" y="71438"/>
                </a:lnTo>
                <a:cubicBezTo>
                  <a:pt x="94863" y="71438"/>
                  <a:pt x="90607" y="67181"/>
                  <a:pt x="90607" y="61912"/>
                </a:cubicBezTo>
                <a:lnTo>
                  <a:pt x="90607" y="9525"/>
                </a:lnTo>
                <a:cubicBezTo>
                  <a:pt x="90607" y="4256"/>
                  <a:pt x="94893" y="-60"/>
                  <a:pt x="100102" y="625"/>
                </a:cubicBezTo>
                <a:cubicBezTo>
                  <a:pt x="131951" y="4852"/>
                  <a:pt x="157192" y="30093"/>
                  <a:pt x="161419" y="61942"/>
                </a:cubicBezTo>
                <a:cubicBezTo>
                  <a:pt x="162104" y="67151"/>
                  <a:pt x="157788" y="71438"/>
                  <a:pt x="152519" y="71438"/>
                </a:cubicBezTo>
                <a:close/>
                <a:moveTo>
                  <a:pt x="66258" y="11073"/>
                </a:moveTo>
                <a:cubicBezTo>
                  <a:pt x="71646" y="9942"/>
                  <a:pt x="76319" y="14347"/>
                  <a:pt x="76319" y="19854"/>
                </a:cubicBezTo>
                <a:lnTo>
                  <a:pt x="76319" y="78581"/>
                </a:lnTo>
                <a:cubicBezTo>
                  <a:pt x="76319" y="80248"/>
                  <a:pt x="76914" y="81855"/>
                  <a:pt x="77956" y="83135"/>
                </a:cubicBezTo>
                <a:lnTo>
                  <a:pt x="117277" y="130582"/>
                </a:lnTo>
                <a:cubicBezTo>
                  <a:pt x="120759" y="134779"/>
                  <a:pt x="120015" y="141119"/>
                  <a:pt x="115223" y="143708"/>
                </a:cubicBezTo>
                <a:cubicBezTo>
                  <a:pt x="105073" y="149245"/>
                  <a:pt x="93434" y="152400"/>
                  <a:pt x="81082" y="152400"/>
                </a:cubicBezTo>
                <a:cubicBezTo>
                  <a:pt x="41642" y="152400"/>
                  <a:pt x="9644" y="120402"/>
                  <a:pt x="9644" y="80962"/>
                </a:cubicBezTo>
                <a:cubicBezTo>
                  <a:pt x="9644" y="46583"/>
                  <a:pt x="33903" y="17889"/>
                  <a:pt x="66258" y="11073"/>
                </a:cubicBezTo>
                <a:close/>
                <a:moveTo>
                  <a:pt x="142220" y="85725"/>
                </a:moveTo>
                <a:lnTo>
                  <a:pt x="161270" y="85725"/>
                </a:lnTo>
                <a:cubicBezTo>
                  <a:pt x="166777" y="85725"/>
                  <a:pt x="171182" y="90398"/>
                  <a:pt x="170051" y="95786"/>
                </a:cubicBezTo>
                <a:cubicBezTo>
                  <a:pt x="167015" y="110192"/>
                  <a:pt x="159633" y="122992"/>
                  <a:pt x="149334" y="132755"/>
                </a:cubicBezTo>
                <a:cubicBezTo>
                  <a:pt x="145673" y="136237"/>
                  <a:pt x="139928" y="135493"/>
                  <a:pt x="136714" y="131594"/>
                </a:cubicBezTo>
                <a:lnTo>
                  <a:pt x="111591" y="101322"/>
                </a:lnTo>
                <a:cubicBezTo>
                  <a:pt x="106442" y="95101"/>
                  <a:pt x="110877" y="85725"/>
                  <a:pt x="118914" y="85725"/>
                </a:cubicBezTo>
                <a:lnTo>
                  <a:pt x="142190" y="8572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8070321" y="2294469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3-class Stress + 2-class Fatigue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70321" y="2523069"/>
            <a:ext cx="1990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 confidence values for each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75021" y="282786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670271" y="2942169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8070321" y="2827869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LLM-Generated Wellness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070321" y="3056469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Claude with deterministic fallback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75021" y="336126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98846" y="347556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8070321" y="3361269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~150 ms Inference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070321" y="3589869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 CPU basic hardware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380288" y="4174067"/>
            <a:ext cx="4428067" cy="1513417"/>
          </a:xfrm>
          <a:prstGeom prst="roundRect">
            <a:avLst>
              <a:gd name="adj" fmla="val 5035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98833" y="441642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7794096" y="4368798"/>
            <a:ext cx="390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75021" y="4749798"/>
            <a:ext cx="4114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Deterministic fallback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ensures the demo never breaks. If LLM fails, pre-written wellness suggestions are served automatically.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3810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52500" y="3810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Limitations &amp; Future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219200" cy="381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143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14350" y="1276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1219200"/>
            <a:ext cx="2790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Acknowledged Limitations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7933" y="1752600"/>
            <a:ext cx="5579533" cy="762000"/>
          </a:xfrm>
          <a:custGeom>
            <a:avLst/>
            <a:gdLst/>
            <a:ahLst/>
            <a:cxnLst/>
            <a:rect l="l" t="t" r="r" b="b"/>
            <a:pathLst>
              <a:path w="5579533" h="7620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685800"/>
                </a:lnTo>
                <a:cubicBezTo>
                  <a:pt x="5579491" y="727856"/>
                  <a:pt x="5545347" y="762000"/>
                  <a:pt x="5503291" y="762000"/>
                </a:cubicBez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0" name="Shape 8"/>
          <p:cNvSpPr/>
          <p:nvPr/>
        </p:nvSpPr>
        <p:spPr>
          <a:xfrm>
            <a:off x="397933" y="1752600"/>
            <a:ext cx="33867" cy="762000"/>
          </a:xfrm>
          <a:custGeom>
            <a:avLst/>
            <a:gdLst/>
            <a:ahLst/>
            <a:cxnLst/>
            <a:rect l="l" t="t" r="r" b="b"/>
            <a:pathLst>
              <a:path w="33867" h="762000">
                <a:moveTo>
                  <a:pt x="33909" y="0"/>
                </a:moveTo>
                <a:lnTo>
                  <a:pt x="33909" y="0"/>
                </a:lnTo>
                <a:lnTo>
                  <a:pt x="33909" y="762000"/>
                </a:ln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567267" y="1905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29167" y="19050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6367" y="1905000"/>
            <a:ext cx="408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Small fatigue test set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6367" y="2171700"/>
            <a:ext cx="4076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n=33 — not statistically robust; results are encouraging but preliminary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7933" y="2628900"/>
            <a:ext cx="5579533" cy="762000"/>
          </a:xfrm>
          <a:custGeom>
            <a:avLst/>
            <a:gdLst/>
            <a:ahLst/>
            <a:cxnLst/>
            <a:rect l="l" t="t" r="r" b="b"/>
            <a:pathLst>
              <a:path w="5579533" h="7620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685800"/>
                </a:lnTo>
                <a:cubicBezTo>
                  <a:pt x="5579491" y="727856"/>
                  <a:pt x="5545347" y="762000"/>
                  <a:pt x="5503291" y="762000"/>
                </a:cubicBez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397933" y="2628900"/>
            <a:ext cx="33867" cy="762000"/>
          </a:xfrm>
          <a:custGeom>
            <a:avLst/>
            <a:gdLst/>
            <a:ahLst/>
            <a:cxnLst/>
            <a:rect l="l" t="t" r="r" b="b"/>
            <a:pathLst>
              <a:path w="33867" h="762000">
                <a:moveTo>
                  <a:pt x="33909" y="0"/>
                </a:moveTo>
                <a:lnTo>
                  <a:pt x="33909" y="0"/>
                </a:lnTo>
                <a:lnTo>
                  <a:pt x="33909" y="762000"/>
                </a:ln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67267" y="27813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29167" y="2781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6367" y="2781300"/>
            <a:ext cx="469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Proxy labels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6367" y="3048000"/>
            <a:ext cx="468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 labels are emotion-to-stress mapping, not ground truth physiological stress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7933" y="3505200"/>
            <a:ext cx="5579533" cy="762000"/>
          </a:xfrm>
          <a:custGeom>
            <a:avLst/>
            <a:gdLst/>
            <a:ahLst/>
            <a:cxnLst/>
            <a:rect l="l" t="t" r="r" b="b"/>
            <a:pathLst>
              <a:path w="5579533" h="7620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685800"/>
                </a:lnTo>
                <a:cubicBezTo>
                  <a:pt x="5579491" y="727856"/>
                  <a:pt x="5545347" y="762000"/>
                  <a:pt x="5503291" y="762000"/>
                </a:cubicBez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397933" y="3505200"/>
            <a:ext cx="33867" cy="762000"/>
          </a:xfrm>
          <a:custGeom>
            <a:avLst/>
            <a:gdLst/>
            <a:ahLst/>
            <a:cxnLst/>
            <a:rect l="l" t="t" r="r" b="b"/>
            <a:pathLst>
              <a:path w="33867" h="762000">
                <a:moveTo>
                  <a:pt x="33909" y="0"/>
                </a:moveTo>
                <a:lnTo>
                  <a:pt x="33909" y="0"/>
                </a:lnTo>
                <a:lnTo>
                  <a:pt x="33909" y="762000"/>
                </a:ln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567267" y="36576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29167" y="36576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6367" y="3657600"/>
            <a:ext cx="3714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Single-frame input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6367" y="3924300"/>
            <a:ext cx="3705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 temporal cues — blink rate, micro-expressions require video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97933" y="4381500"/>
            <a:ext cx="5579533" cy="762000"/>
          </a:xfrm>
          <a:custGeom>
            <a:avLst/>
            <a:gdLst/>
            <a:ahLst/>
            <a:cxnLst/>
            <a:rect l="l" t="t" r="r" b="b"/>
            <a:pathLst>
              <a:path w="5579533" h="7620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685800"/>
                </a:lnTo>
                <a:cubicBezTo>
                  <a:pt x="5579491" y="727856"/>
                  <a:pt x="5545347" y="762000"/>
                  <a:pt x="5503291" y="762000"/>
                </a:cubicBez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397933" y="4381500"/>
            <a:ext cx="33867" cy="762000"/>
          </a:xfrm>
          <a:custGeom>
            <a:avLst/>
            <a:gdLst/>
            <a:ahLst/>
            <a:cxnLst/>
            <a:rect l="l" t="t" r="r" b="b"/>
            <a:pathLst>
              <a:path w="33867" h="762000">
                <a:moveTo>
                  <a:pt x="33909" y="0"/>
                </a:moveTo>
                <a:lnTo>
                  <a:pt x="33909" y="0"/>
                </a:lnTo>
                <a:lnTo>
                  <a:pt x="33909" y="762000"/>
                </a:ln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567267" y="45339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8B0000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29167" y="4533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6367" y="453390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Demographic skew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6367" y="4800600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FER-2013 not balanced across age, ethnicity, gender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0300" y="1143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6343650" y="12763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781800" y="1219200"/>
            <a:ext cx="300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Future Work (Priority Order)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27233" y="1752600"/>
            <a:ext cx="5579533" cy="762000"/>
          </a:xfrm>
          <a:custGeom>
            <a:avLst/>
            <a:gdLst/>
            <a:ahLst/>
            <a:cxnLst/>
            <a:rect l="l" t="t" r="r" b="b"/>
            <a:pathLst>
              <a:path w="5579533" h="7620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685800"/>
                </a:lnTo>
                <a:cubicBezTo>
                  <a:pt x="5579491" y="727856"/>
                  <a:pt x="5545347" y="762000"/>
                  <a:pt x="5503291" y="762000"/>
                </a:cubicBez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7" name="Shape 35"/>
          <p:cNvSpPr/>
          <p:nvPr/>
        </p:nvSpPr>
        <p:spPr>
          <a:xfrm>
            <a:off x="6227233" y="1752600"/>
            <a:ext cx="33867" cy="762000"/>
          </a:xfrm>
          <a:custGeom>
            <a:avLst/>
            <a:gdLst/>
            <a:ahLst/>
            <a:cxnLst/>
            <a:rect l="l" t="t" r="r" b="b"/>
            <a:pathLst>
              <a:path w="33867" h="762000">
                <a:moveTo>
                  <a:pt x="33909" y="0"/>
                </a:moveTo>
                <a:lnTo>
                  <a:pt x="33909" y="0"/>
                </a:lnTo>
                <a:lnTo>
                  <a:pt x="33909" y="762000"/>
                </a:ln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38" name="Shape 36"/>
          <p:cNvSpPr/>
          <p:nvPr/>
        </p:nvSpPr>
        <p:spPr>
          <a:xfrm>
            <a:off x="6396567" y="1905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C950"/>
          </a:solidFill>
          <a:ln/>
        </p:spPr>
      </p:sp>
      <p:sp>
        <p:nvSpPr>
          <p:cNvPr id="39" name="Text 37"/>
          <p:cNvSpPr/>
          <p:nvPr/>
        </p:nvSpPr>
        <p:spPr>
          <a:xfrm>
            <a:off x="6358467" y="19050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15667" y="190500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Better fatigue data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15667" y="21717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Purpose-built dataset with thousands of held-out samples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27233" y="2628900"/>
            <a:ext cx="5579533" cy="762000"/>
          </a:xfrm>
          <a:custGeom>
            <a:avLst/>
            <a:gdLst/>
            <a:ahLst/>
            <a:cxnLst/>
            <a:rect l="l" t="t" r="r" b="b"/>
            <a:pathLst>
              <a:path w="5579533" h="7620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685800"/>
                </a:lnTo>
                <a:cubicBezTo>
                  <a:pt x="5579491" y="727856"/>
                  <a:pt x="5545347" y="762000"/>
                  <a:pt x="5503291" y="762000"/>
                </a:cubicBez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3" name="Shape 41"/>
          <p:cNvSpPr/>
          <p:nvPr/>
        </p:nvSpPr>
        <p:spPr>
          <a:xfrm>
            <a:off x="6227233" y="2628900"/>
            <a:ext cx="33867" cy="762000"/>
          </a:xfrm>
          <a:custGeom>
            <a:avLst/>
            <a:gdLst/>
            <a:ahLst/>
            <a:cxnLst/>
            <a:rect l="l" t="t" r="r" b="b"/>
            <a:pathLst>
              <a:path w="33867" h="762000">
                <a:moveTo>
                  <a:pt x="33909" y="0"/>
                </a:moveTo>
                <a:lnTo>
                  <a:pt x="33909" y="0"/>
                </a:lnTo>
                <a:lnTo>
                  <a:pt x="33909" y="762000"/>
                </a:ln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4" name="Shape 42"/>
          <p:cNvSpPr/>
          <p:nvPr/>
        </p:nvSpPr>
        <p:spPr>
          <a:xfrm>
            <a:off x="6396567" y="27813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0C950"/>
          </a:solidFill>
          <a:ln/>
        </p:spPr>
      </p:sp>
      <p:sp>
        <p:nvSpPr>
          <p:cNvPr id="45" name="Text 43"/>
          <p:cNvSpPr/>
          <p:nvPr/>
        </p:nvSpPr>
        <p:spPr>
          <a:xfrm>
            <a:off x="6358467" y="2781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15667" y="2781300"/>
            <a:ext cx="3371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Temporal modeling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15667" y="3048000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Short video clips for blink-rate and micro-expression cues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27233" y="3505200"/>
            <a:ext cx="5579533" cy="762000"/>
          </a:xfrm>
          <a:custGeom>
            <a:avLst/>
            <a:gdLst/>
            <a:ahLst/>
            <a:cxnLst/>
            <a:rect l="l" t="t" r="r" b="b"/>
            <a:pathLst>
              <a:path w="5579533" h="7620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685800"/>
                </a:lnTo>
                <a:cubicBezTo>
                  <a:pt x="5579491" y="727856"/>
                  <a:pt x="5545347" y="762000"/>
                  <a:pt x="5503291" y="762000"/>
                </a:cubicBez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9" name="Shape 47"/>
          <p:cNvSpPr/>
          <p:nvPr/>
        </p:nvSpPr>
        <p:spPr>
          <a:xfrm>
            <a:off x="6227233" y="3505200"/>
            <a:ext cx="33867" cy="762000"/>
          </a:xfrm>
          <a:custGeom>
            <a:avLst/>
            <a:gdLst/>
            <a:ahLst/>
            <a:cxnLst/>
            <a:rect l="l" t="t" r="r" b="b"/>
            <a:pathLst>
              <a:path w="33867" h="762000">
                <a:moveTo>
                  <a:pt x="33909" y="0"/>
                </a:moveTo>
                <a:lnTo>
                  <a:pt x="33909" y="0"/>
                </a:lnTo>
                <a:lnTo>
                  <a:pt x="33909" y="762000"/>
                </a:ln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50" name="Shape 48"/>
          <p:cNvSpPr/>
          <p:nvPr/>
        </p:nvSpPr>
        <p:spPr>
          <a:xfrm>
            <a:off x="6396567" y="36576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0B100"/>
          </a:solidFill>
          <a:ln/>
        </p:spPr>
      </p:sp>
      <p:sp>
        <p:nvSpPr>
          <p:cNvPr id="51" name="Text 49"/>
          <p:cNvSpPr/>
          <p:nvPr/>
        </p:nvSpPr>
        <p:spPr>
          <a:xfrm>
            <a:off x="6358467" y="36576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15667" y="3657600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Fairness audit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15667" y="392430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Across age, skin tone, gender, lighting conditions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27233" y="4381500"/>
            <a:ext cx="5579533" cy="762000"/>
          </a:xfrm>
          <a:custGeom>
            <a:avLst/>
            <a:gdLst/>
            <a:ahLst/>
            <a:cxnLst/>
            <a:rect l="l" t="t" r="r" b="b"/>
            <a:pathLst>
              <a:path w="5579533" h="7620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685800"/>
                </a:lnTo>
                <a:cubicBezTo>
                  <a:pt x="5579491" y="727856"/>
                  <a:pt x="5545347" y="762000"/>
                  <a:pt x="5503291" y="762000"/>
                </a:cubicBez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5" name="Shape 53"/>
          <p:cNvSpPr/>
          <p:nvPr/>
        </p:nvSpPr>
        <p:spPr>
          <a:xfrm>
            <a:off x="6227233" y="4381500"/>
            <a:ext cx="33867" cy="762000"/>
          </a:xfrm>
          <a:custGeom>
            <a:avLst/>
            <a:gdLst/>
            <a:ahLst/>
            <a:cxnLst/>
            <a:rect l="l" t="t" r="r" b="b"/>
            <a:pathLst>
              <a:path w="33867" h="762000">
                <a:moveTo>
                  <a:pt x="33909" y="0"/>
                </a:moveTo>
                <a:lnTo>
                  <a:pt x="33909" y="0"/>
                </a:lnTo>
                <a:lnTo>
                  <a:pt x="33909" y="762000"/>
                </a:ln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56" name="Shape 54"/>
          <p:cNvSpPr/>
          <p:nvPr/>
        </p:nvSpPr>
        <p:spPr>
          <a:xfrm>
            <a:off x="6396567" y="45339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0B100"/>
          </a:solidFill>
          <a:ln/>
        </p:spPr>
      </p:sp>
      <p:sp>
        <p:nvSpPr>
          <p:cNvPr id="57" name="Text 55"/>
          <p:cNvSpPr/>
          <p:nvPr/>
        </p:nvSpPr>
        <p:spPr>
          <a:xfrm>
            <a:off x="6358467" y="4533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15667" y="45339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On-device inference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15667" y="4800600"/>
            <a:ext cx="3209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ONNX export, mobile deployment for edge computing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27233" y="5257800"/>
            <a:ext cx="5579533" cy="762000"/>
          </a:xfrm>
          <a:custGeom>
            <a:avLst/>
            <a:gdLst/>
            <a:ahLst/>
            <a:cxnLst/>
            <a:rect l="l" t="t" r="r" b="b"/>
            <a:pathLst>
              <a:path w="5579533" h="762000">
                <a:moveTo>
                  <a:pt x="33909" y="0"/>
                </a:moveTo>
                <a:lnTo>
                  <a:pt x="5503291" y="0"/>
                </a:lnTo>
                <a:cubicBezTo>
                  <a:pt x="5545347" y="0"/>
                  <a:pt x="5579491" y="34144"/>
                  <a:pt x="5579491" y="76200"/>
                </a:cubicBezTo>
                <a:lnTo>
                  <a:pt x="5579491" y="685800"/>
                </a:lnTo>
                <a:cubicBezTo>
                  <a:pt x="5579491" y="727856"/>
                  <a:pt x="5545347" y="762000"/>
                  <a:pt x="5503291" y="762000"/>
                </a:cubicBez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1" name="Shape 59"/>
          <p:cNvSpPr/>
          <p:nvPr/>
        </p:nvSpPr>
        <p:spPr>
          <a:xfrm>
            <a:off x="6227233" y="5257800"/>
            <a:ext cx="33867" cy="762000"/>
          </a:xfrm>
          <a:custGeom>
            <a:avLst/>
            <a:gdLst/>
            <a:ahLst/>
            <a:cxnLst/>
            <a:rect l="l" t="t" r="r" b="b"/>
            <a:pathLst>
              <a:path w="33867" h="762000">
                <a:moveTo>
                  <a:pt x="33909" y="0"/>
                </a:moveTo>
                <a:lnTo>
                  <a:pt x="33909" y="0"/>
                </a:lnTo>
                <a:lnTo>
                  <a:pt x="33909" y="762000"/>
                </a:lnTo>
                <a:lnTo>
                  <a:pt x="33909" y="762000"/>
                </a:lnTo>
                <a:cubicBezTo>
                  <a:pt x="15182" y="762000"/>
                  <a:pt x="0" y="746818"/>
                  <a:pt x="0" y="728091"/>
                </a:cubicBezTo>
                <a:lnTo>
                  <a:pt x="0" y="33909"/>
                </a:lnTo>
                <a:cubicBezTo>
                  <a:pt x="0" y="15194"/>
                  <a:pt x="15194" y="0"/>
                  <a:pt x="3390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6396567" y="54102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63" name="Text 61"/>
          <p:cNvSpPr/>
          <p:nvPr/>
        </p:nvSpPr>
        <p:spPr>
          <a:xfrm>
            <a:off x="6358467" y="54102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15667" y="541020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Physiological stress labels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15667" y="5676900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Ground-truth labels from cortisol, HRV, not proxy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rs.els-cdn.com/fd3c8a0469e74ac5900ac25a19ea01309c8da664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8853" b="885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 flip="none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FFFFFF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1020235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5" name="Shape 2"/>
          <p:cNvSpPr/>
          <p:nvPr/>
        </p:nvSpPr>
        <p:spPr>
          <a:xfrm>
            <a:off x="5903119" y="1305985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32147" y="131132"/>
                </a:moveTo>
                <a:lnTo>
                  <a:pt x="172254" y="188796"/>
                </a:lnTo>
                <a:cubicBezTo>
                  <a:pt x="178817" y="191475"/>
                  <a:pt x="185782" y="192881"/>
                  <a:pt x="192881" y="192881"/>
                </a:cubicBezTo>
                <a:cubicBezTo>
                  <a:pt x="199980" y="192881"/>
                  <a:pt x="206946" y="191475"/>
                  <a:pt x="213509" y="188796"/>
                </a:cubicBezTo>
                <a:lnTo>
                  <a:pt x="375851" y="121957"/>
                </a:lnTo>
                <a:cubicBezTo>
                  <a:pt x="381878" y="119479"/>
                  <a:pt x="385763" y="113653"/>
                  <a:pt x="385763" y="107156"/>
                </a:cubicBezTo>
                <a:cubicBezTo>
                  <a:pt x="385763" y="100660"/>
                  <a:pt x="381878" y="94833"/>
                  <a:pt x="375851" y="92355"/>
                </a:cubicBezTo>
                <a:lnTo>
                  <a:pt x="213509" y="25517"/>
                </a:lnTo>
                <a:cubicBezTo>
                  <a:pt x="206946" y="22838"/>
                  <a:pt x="199980" y="21431"/>
                  <a:pt x="192881" y="21431"/>
                </a:cubicBezTo>
                <a:cubicBezTo>
                  <a:pt x="185782" y="21431"/>
                  <a:pt x="178817" y="22838"/>
                  <a:pt x="172254" y="25517"/>
                </a:cubicBezTo>
                <a:lnTo>
                  <a:pt x="9912" y="92355"/>
                </a:lnTo>
                <a:cubicBezTo>
                  <a:pt x="3884" y="94833"/>
                  <a:pt x="0" y="100660"/>
                  <a:pt x="0" y="107156"/>
                </a:cubicBezTo>
                <a:lnTo>
                  <a:pt x="0" y="305395"/>
                </a:lnTo>
                <a:cubicBezTo>
                  <a:pt x="0" y="314303"/>
                  <a:pt x="7166" y="321469"/>
                  <a:pt x="16073" y="321469"/>
                </a:cubicBezTo>
                <a:cubicBezTo>
                  <a:pt x="24981" y="321469"/>
                  <a:pt x="32147" y="314303"/>
                  <a:pt x="32147" y="305395"/>
                </a:cubicBezTo>
                <a:lnTo>
                  <a:pt x="32147" y="131132"/>
                </a:lnTo>
                <a:close/>
                <a:moveTo>
                  <a:pt x="64294" y="179152"/>
                </a:moveTo>
                <a:lnTo>
                  <a:pt x="64294" y="257175"/>
                </a:lnTo>
                <a:cubicBezTo>
                  <a:pt x="64294" y="292671"/>
                  <a:pt x="121890" y="321469"/>
                  <a:pt x="192881" y="321469"/>
                </a:cubicBezTo>
                <a:cubicBezTo>
                  <a:pt x="263872" y="321469"/>
                  <a:pt x="321469" y="292671"/>
                  <a:pt x="321469" y="257175"/>
                </a:cubicBezTo>
                <a:lnTo>
                  <a:pt x="321469" y="179085"/>
                </a:lnTo>
                <a:lnTo>
                  <a:pt x="225765" y="218532"/>
                </a:lnTo>
                <a:cubicBezTo>
                  <a:pt x="215317" y="222818"/>
                  <a:pt x="204200" y="225028"/>
                  <a:pt x="192881" y="225028"/>
                </a:cubicBezTo>
                <a:cubicBezTo>
                  <a:pt x="181563" y="225028"/>
                  <a:pt x="170445" y="222818"/>
                  <a:pt x="159998" y="218532"/>
                </a:cubicBezTo>
                <a:lnTo>
                  <a:pt x="64294" y="1790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232275" y="2163235"/>
            <a:ext cx="3724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32288" y="3001435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75025" y="3653369"/>
            <a:ext cx="5437717" cy="1456267"/>
          </a:xfrm>
          <a:prstGeom prst="roundRect">
            <a:avLst>
              <a:gd name="adj" fmla="val 5233"/>
            </a:avLst>
          </a:prstGeom>
          <a:solidFill>
            <a:srgbClr val="F9FAFB"/>
          </a:solidFill>
          <a:ln w="11289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9545" y="39116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855508" y="3886200"/>
            <a:ext cx="477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522133" y="4305300"/>
            <a:ext cx="1304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0.71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74521" y="468630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Balanced Accuracy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04304" y="4305300"/>
            <a:ext cx="1304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0.05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856692" y="468630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ECE Calibration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86475" y="4305300"/>
            <a:ext cx="1304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5,334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38863" y="468630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Stress Test Samples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68646" y="4305300"/>
            <a:ext cx="1304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25 min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21034" y="468630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Training Time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1000" y="5753100"/>
            <a:ext cx="3657600" cy="723900"/>
          </a:xfrm>
          <a:prstGeom prst="roundRect">
            <a:avLst>
              <a:gd name="adj" fmla="val 10526"/>
            </a:avLst>
          </a:prstGeom>
          <a:solidFill>
            <a:srgbClr val="F9FAFB"/>
          </a:solidFill>
          <a:ln/>
        </p:spPr>
      </p:sp>
      <p:sp>
        <p:nvSpPr>
          <p:cNvPr id="20" name="Shape 17"/>
          <p:cNvSpPr/>
          <p:nvPr/>
        </p:nvSpPr>
        <p:spPr>
          <a:xfrm>
            <a:off x="1723231" y="6000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2094706" y="59055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094706" y="609600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GitHub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67200" y="5753100"/>
            <a:ext cx="3657600" cy="723900"/>
          </a:xfrm>
          <a:prstGeom prst="roundRect">
            <a:avLst>
              <a:gd name="adj" fmla="val 10526"/>
            </a:avLst>
          </a:prstGeom>
          <a:solidFill>
            <a:srgbClr val="F9FAFB"/>
          </a:solidFill>
          <a:ln/>
        </p:spPr>
      </p:sp>
      <p:sp>
        <p:nvSpPr>
          <p:cNvPr id="24" name="Shape 21"/>
          <p:cNvSpPr/>
          <p:nvPr/>
        </p:nvSpPr>
        <p:spPr>
          <a:xfrm>
            <a:off x="5609696" y="6000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5981171" y="59055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981171" y="609600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HF Space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153400" y="5753100"/>
            <a:ext cx="3657600" cy="723900"/>
          </a:xfrm>
          <a:prstGeom prst="roundRect">
            <a:avLst>
              <a:gd name="adj" fmla="val 10526"/>
            </a:avLst>
          </a:prstGeom>
          <a:solidFill>
            <a:srgbClr val="F9FAFB"/>
          </a:solidFill>
          <a:ln/>
        </p:spPr>
      </p:sp>
      <p:sp>
        <p:nvSpPr>
          <p:cNvPr id="28" name="Shape 25"/>
          <p:cNvSpPr/>
          <p:nvPr/>
        </p:nvSpPr>
        <p:spPr>
          <a:xfrm>
            <a:off x="9546167" y="6000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6"/>
          <p:cNvSpPr/>
          <p:nvPr/>
        </p:nvSpPr>
        <p:spPr>
          <a:xfrm>
            <a:off x="9917642" y="5905500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917642" y="60960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HF Hub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Facial Stress &amp; Fatigue Detection</dc:title>
  <dc:subject>Facial Stress &amp; Fatigue Detection</dc:subject>
  <dc:creator>Kimi</dc:creator>
  <cp:lastModifiedBy>Kimi</cp:lastModifiedBy>
  <cp:revision>1</cp:revision>
  <dcterms:created xsi:type="dcterms:W3CDTF">2026-05-15T08:19:03Z</dcterms:created>
  <dcterms:modified xsi:type="dcterms:W3CDTF">2026-05-15T08:19:03Z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{"Label":"Facial Stress &amp; Fatigue Detection","ContentProducer":"001191110108MACG2KBH8F10000","ProduceID":"19e2ab68-e3d2-8c09-8000-0000135f3f7c","ReservedCode1":"","ContentPropagator":"001191110108MACG2KBH8F20000","PropagateID":"19e2ab68-e3d2-8c09-8000-0000135f3f7c","ReservedCode2":""}</vt:lpwstr>
  </property>
</Properties>
</file>